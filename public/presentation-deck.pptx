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42653811c848e3" /><Relationship Type="http://schemas.openxmlformats.org/officeDocument/2006/relationships/extended-properties" Target="/docProps/app.xml" Id="R7a521f0c326949e8" /><Relationship Type="http://schemas.openxmlformats.org/officeDocument/2006/relationships/officeDocument" Target="/ppt/presentation.xml" Id="Rd0a854492a1a4ec9" /></Relationships>
</file>

<file path=ppt/presentation.xml><?xml version="1.0" encoding="utf-8"?>
<p:presentation xmlns:p="http://schemas.openxmlformats.org/presentationml/2006/main">
  <p:sldMasterIdLst>
    <p:sldMasterId xmlns:r="http://schemas.openxmlformats.org/officeDocument/2006/relationships" id="2147483648" r:id="R90288873a4614e65"/>
  </p:sldMasterIdLst>
  <p:notesMasterIdLst>
    <p:notesMasterId xmlns:r="http://schemas.openxmlformats.org/officeDocument/2006/relationships" r:id="R1f708f738ed64e16"/>
  </p:notesMasterIdLst>
  <p:sldIdLst>
    <p:sldId xmlns:r="http://schemas.openxmlformats.org/officeDocument/2006/relationships" id="256" r:id="Re31699fc55674d44"/>
    <p:sldId xmlns:r="http://schemas.openxmlformats.org/officeDocument/2006/relationships" id="257" r:id="Rc25c1cf84c694def"/>
    <p:sldId xmlns:r="http://schemas.openxmlformats.org/officeDocument/2006/relationships" id="258" r:id="R1b8eb4c8317d427a"/>
    <p:sldId xmlns:r="http://schemas.openxmlformats.org/officeDocument/2006/relationships" id="259" r:id="R8b88a0cb1f324c8c"/>
    <p:sldId xmlns:r="http://schemas.openxmlformats.org/officeDocument/2006/relationships" id="260" r:id="R56b0726cf1074ecf"/>
    <p:sldId xmlns:r="http://schemas.openxmlformats.org/officeDocument/2006/relationships" id="261" r:id="R5f0d0c8bc96a46fb"/>
    <p:sldId xmlns:r="http://schemas.openxmlformats.org/officeDocument/2006/relationships" id="262" r:id="R9768900eeb494654"/>
    <p:sldId xmlns:r="http://schemas.openxmlformats.org/officeDocument/2006/relationships" id="263" r:id="R76d660a55d5d43e7"/>
    <p:sldId xmlns:r="http://schemas.openxmlformats.org/officeDocument/2006/relationships" id="264" r:id="Rde44c7e886a74c99"/>
    <p:sldId xmlns:r="http://schemas.openxmlformats.org/officeDocument/2006/relationships" id="265" r:id="R0b2f9cc6a6184b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0cbc3c2da94c68" /><Relationship Type="http://schemas.openxmlformats.org/officeDocument/2006/relationships/slideMaster" Target="/ppt/slideMasters/slideMaster1.xml" Id="R90288873a4614e65" /><Relationship Type="http://schemas.openxmlformats.org/officeDocument/2006/relationships/notesMaster" Target="/ppt/notesMasters/notesMaster1.xml" Id="R1f708f738ed64e16" /><Relationship Type="http://schemas.openxmlformats.org/officeDocument/2006/relationships/presProps" Target="/ppt/presProps.xml" Id="Re6e0ea9b1acb4fc6" /><Relationship Type="http://schemas.openxmlformats.org/officeDocument/2006/relationships/tableStyles" Target="/ppt/tableStyles.xml" Id="R2bb57d045ef14a07" /><Relationship Type="http://schemas.openxmlformats.org/officeDocument/2006/relationships/slide" Target="/ppt/slides/slide1.xml" Id="Re31699fc55674d44" /><Relationship Type="http://schemas.openxmlformats.org/officeDocument/2006/relationships/slide" Target="/ppt/slides/slide2.xml" Id="Rc25c1cf84c694def" /><Relationship Type="http://schemas.openxmlformats.org/officeDocument/2006/relationships/slide" Target="/ppt/slides/slide3.xml" Id="R1b8eb4c8317d427a" /><Relationship Type="http://schemas.openxmlformats.org/officeDocument/2006/relationships/slide" Target="/ppt/slides/slide4.xml" Id="R8b88a0cb1f324c8c" /><Relationship Type="http://schemas.openxmlformats.org/officeDocument/2006/relationships/slide" Target="/ppt/slides/slide5.xml" Id="R56b0726cf1074ecf" /><Relationship Type="http://schemas.openxmlformats.org/officeDocument/2006/relationships/slide" Target="/ppt/slides/slide6.xml" Id="R5f0d0c8bc96a46fb" /><Relationship Type="http://schemas.openxmlformats.org/officeDocument/2006/relationships/slide" Target="/ppt/slides/slide7.xml" Id="R9768900eeb494654" /><Relationship Type="http://schemas.openxmlformats.org/officeDocument/2006/relationships/slide" Target="/ppt/slides/slide8.xml" Id="R76d660a55d5d43e7" /><Relationship Type="http://schemas.openxmlformats.org/officeDocument/2006/relationships/slide" Target="/ppt/slides/slide9.xml" Id="Rde44c7e886a74c99" /><Relationship Type="http://schemas.openxmlformats.org/officeDocument/2006/relationships/slide" Target="/ppt/slides/slide10.xml" Id="R0b2f9cc6a6184b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815c3249b348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92969b21b042d2" /><Relationship Type="http://schemas.openxmlformats.org/officeDocument/2006/relationships/notesMaster" Target="/ppt/notesMasters/notesMaster1.xml" Id="R55c7425f721145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9b6cccb88b418b" /><Relationship Type="http://schemas.openxmlformats.org/officeDocument/2006/relationships/notesMaster" Target="/ppt/notesMasters/notesMaster1.xml" Id="Rbea300fad93f43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853e7315004970" /><Relationship Type="http://schemas.openxmlformats.org/officeDocument/2006/relationships/notesMaster" Target="/ppt/notesMasters/notesMaster1.xml" Id="R5b860081685549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f9679827f74c31" /><Relationship Type="http://schemas.openxmlformats.org/officeDocument/2006/relationships/notesMaster" Target="/ppt/notesMasters/notesMaster1.xml" Id="R20c3710d921c4e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707a6e50414e4e" /><Relationship Type="http://schemas.openxmlformats.org/officeDocument/2006/relationships/notesMaster" Target="/ppt/notesMasters/notesMaster1.xml" Id="Rf1f32ed51e4f41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dbdf863f2a4057" /><Relationship Type="http://schemas.openxmlformats.org/officeDocument/2006/relationships/notesMaster" Target="/ppt/notesMasters/notesMaster1.xml" Id="Rf06347f2e34f48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17f167a36e442b" /><Relationship Type="http://schemas.openxmlformats.org/officeDocument/2006/relationships/notesMaster" Target="/ppt/notesMasters/notesMaster1.xml" Id="R09e60541bbe34e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f11e52130f4ca1" /><Relationship Type="http://schemas.openxmlformats.org/officeDocument/2006/relationships/notesMaster" Target="/ppt/notesMasters/notesMaster1.xml" Id="Rcad2f9d6403247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d90b5f897b49ae" /><Relationship Type="http://schemas.openxmlformats.org/officeDocument/2006/relationships/notesMaster" Target="/ppt/notesMasters/notesMaster1.xml" Id="R81c03242320740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1eb457d9734333" /><Relationship Type="http://schemas.openxmlformats.org/officeDocument/2006/relationships/notesMaster" Target="/ppt/notesMasters/notesMaster1.xml" Id="R371ba8387a364a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question behind the study: are we evaluating the coding assistant, the model, or the workflow around both? State that the answer required two phases and working applications, not a single leaderboard.</a:t>
            </a:r>
          </a:p>
          <a:p xmlns:a="http://schemas.openxmlformats.org/drawingml/2006/main">
            <a:r>
              <a:t/>
            </a:r>
          </a:p>
          <a:p xmlns:a="http://schemas.openxmlformats.org/drawingml/2006/main">
            <a:r>
              <a:t>[Sources]</a:t>
            </a:r>
          </a:p>
          <a:p xmlns:a="http://schemas.openxmlformats.org/drawingml/2006/main">
            <a:r>
              <a:t>- public/og.png</a:t>
            </a:r>
          </a:p>
          <a:p xmlns:a="http://schemas.openxmlformats.org/drawingml/2006/main">
            <a:r>
              <a:t>- benchmark/reports/final-study-report.md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Phase 1 deliberately tested the whole product experience. Phase 2 then neutralized the assistant by using Pi. This is the methodological move that makes the conclusions useful.</a:t>
            </a:r>
          </a:p>
          <a:p xmlns:a="http://schemas.openxmlformats.org/drawingml/2006/main">
            <a:r>
              <a:t/>
            </a:r>
          </a:p>
          <a:p xmlns:a="http://schemas.openxmlformats.org/drawingml/2006/main">
            <a:r>
              <a:t>[Sources]</a:t>
            </a:r>
          </a:p>
          <a:p xmlns:a="http://schemas.openxmlformats.org/drawingml/2006/main">
            <a:r>
              <a:t>- benchmark/reports/phase-1/PHASE-1-COMPREHENSIVE.md</a:t>
            </a:r>
          </a:p>
          <a:p xmlns:a="http://schemas.openxmlformats.org/drawingml/2006/main">
            <a:r>
              <a:t>- benchmark/phase-2/PROTOCOL.md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through the operating roles. Codex leads and integrates. Claude provides an independent challenge. OpenCode is useful when model flexibility matters. Pi is the neutral experiment surface.</a:t>
            </a:r>
          </a:p>
          <a:p xmlns:a="http://schemas.openxmlformats.org/drawingml/2006/main">
            <a:r>
              <a:t/>
            </a:r>
          </a:p>
          <a:p xmlns:a="http://schemas.openxmlformats.org/drawingml/2006/main">
            <a:r>
              <a:t>[Sources]</a:t>
            </a:r>
          </a:p>
          <a:p xmlns:a="http://schemas.openxmlformats.org/drawingml/2006/main">
            <a:r>
              <a:t>- benchmark/reports/phase-1/PHASE-1-COMPREHENSIVE.md</a:t>
            </a:r>
          </a:p>
          <a:p xmlns:a="http://schemas.openxmlformats.org/drawingml/2006/main">
            <a:r>
              <a:t>- benchmark/reports/final-study-report.md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cards to show that the scores alone are not the conclusion. Codex completed the accepted frontier repair fastest. Claude produced broader review behavior. OpenCode was fast in the fixed shared-model harness.</a:t>
            </a:r>
          </a:p>
          <a:p xmlns:a="http://schemas.openxmlformats.org/drawingml/2006/main">
            <a:r>
              <a:t/>
            </a:r>
          </a:p>
          <a:p xmlns:a="http://schemas.openxmlformats.org/drawingml/2006/main">
            <a:r>
              <a:t>[Sources]</a:t>
            </a:r>
          </a:p>
          <a:p xmlns:a="http://schemas.openxmlformats.org/drawingml/2006/main">
            <a:r>
              <a:t>- benchmark/reports/T6-top-frontier-comparison.md</a:t>
            </a:r>
          </a:p>
          <a:p xmlns:a="http://schemas.openxmlformats.org/drawingml/2006/main">
            <a:r>
              <a:t>- benchmark/reports/T6-shared-kimi-harness-comparison.md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Focus on the cluster at the top, then the operational gap. Sol and GLM tied at 100. Fable and Qwen were close. Kimi's saved patch later scored well, but the counted timeout and write acceptance remain part of the result.</a:t>
            </a:r>
          </a:p>
          <a:p xmlns:a="http://schemas.openxmlformats.org/drawingml/2006/main">
            <a:r>
              <a:t/>
            </a:r>
          </a:p>
          <a:p xmlns:a="http://schemas.openxmlformats.org/drawingml/2006/main">
            <a:r>
              <a:t>[Sources]</a:t>
            </a:r>
          </a:p>
          <a:p xmlns:a="http://schemas.openxmlformats.org/drawingml/2006/main">
            <a:r>
              <a:t>- benchmark/reports/phase-2/PHASE-2-COMPREHENSIVE.md</a:t>
            </a:r>
          </a:p>
          <a:p xmlns:a="http://schemas.openxmlformats.org/drawingml/2006/main">
            <a:r>
              <a:t>- benchmark/blocks/phase-2-pi-model-comparison-2026-08-23.results.json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Qwen as the economical bounded worker, not as a universal replacement. State the cost caveat explicitly: saved Pi telemetry did not reconcile to the observed OpenRouter balance decrease, so route-level rankings are provisional.</a:t>
            </a:r>
          </a:p>
          <a:p xmlns:a="http://schemas.openxmlformats.org/drawingml/2006/main">
            <a:r>
              <a:t/>
            </a:r>
          </a:p>
          <a:p xmlns:a="http://schemas.openxmlformats.org/drawingml/2006/main">
            <a:r>
              <a:t>[Sources]</a:t>
            </a:r>
          </a:p>
          <a:p xmlns:a="http://schemas.openxmlformats.org/drawingml/2006/main">
            <a:r>
              <a:t>- benchmark/reports/phase-2/PHASE-2-COMPREHENSIVE.md</a:t>
            </a:r>
          </a:p>
          <a:p xmlns:a="http://schemas.openxmlformats.org/drawingml/2006/main">
            <a:r>
              <a:t>- benchmark/phase-2/ACCESS-AND-BUDGET.md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five handoffs, then compare the elapsed bars. The route was correct and auditable, but slower. The recommendation is selective distribution for high-risk or ownership-sensitive work, not distribution by default.</a:t>
            </a:r>
          </a:p>
          <a:p xmlns:a="http://schemas.openxmlformats.org/drawingml/2006/main">
            <a:r>
              <a:t/>
            </a:r>
          </a:p>
          <a:p xmlns:a="http://schemas.openxmlformats.org/drawingml/2006/main">
            <a:r>
              <a:t>[Sources]</a:t>
            </a:r>
          </a:p>
          <a:p xmlns:a="http://schemas.openxmlformats.org/drawingml/2006/main">
            <a:r>
              <a:t>- benchmark/reports/T5-distributed-workflow-comparison.md</a:t>
            </a:r>
          </a:p>
          <a:p xmlns:a="http://schemas.openxmlformats.org/drawingml/2006/main">
            <a:r>
              <a:t>- benchmark/blocks/T5-distributed-workflow-v2-2026-08-23.results.json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the slide here and open the live trade-capture route. Show the desk totals, trade ticket, validations, and immutable lifecycle. Emphasize that it is synthetic and deterministic rather than connected to production systems.</a:t>
            </a:r>
          </a:p>
          <a:p xmlns:a="http://schemas.openxmlformats.org/drawingml/2006/main">
            <a:r>
              <a:t/>
            </a:r>
          </a:p>
          <a:p xmlns:a="http://schemas.openxmlformats.org/drawingml/2006/main">
            <a:r>
              <a:t>[Sources]</a:t>
            </a:r>
          </a:p>
          <a:p xmlns:a="http://schemas.openxmlformats.org/drawingml/2006/main">
            <a:r>
              <a:t>- benchmark/reports/T7-distributed-trade-capture.md</a:t>
            </a:r>
          </a:p>
          <a:p xmlns:a="http://schemas.openxmlformats.org/drawingml/2006/main">
            <a:r>
              <a:t>- app/trade-capture/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Research Lab as the application directory. It links the live trade system, the neutral harness, assistant execution workflow, audit extension, paper, and this deck. The point is traceability from conclusion to working evidence.</a:t>
            </a:r>
          </a:p>
          <a:p xmlns:a="http://schemas.openxmlformats.org/drawingml/2006/main">
            <a:r>
              <a:t/>
            </a:r>
          </a:p>
          <a:p xmlns:a="http://schemas.openxmlformats.org/drawingml/2006/main">
            <a:r>
              <a:t>[Sources]</a:t>
            </a:r>
          </a:p>
          <a:p xmlns:a="http://schemas.openxmlformats.org/drawingml/2006/main">
            <a:r>
              <a:t>- app/lab/research-lab.tsx</a:t>
            </a:r>
          </a:p>
          <a:p xmlns:a="http://schemas.openxmlformats.org/drawingml/2006/main">
            <a:r>
              <a:t>- benchmark/extensions/benchmark-audit/README.md</a:t>
            </a:r>
          </a:p>
          <a:p xmlns:a="http://schemas.openxmlformats.org/drawingml/2006/main">
            <a:r>
              <a:t>- benchmark/reports/final-study-report.md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practical operating model. Use Codex and Sol for planning and integration. Route bounded work to Qwen, hard asynchronous work to GLM, and high-risk review to Claude. Finish with the rule: plan high, execute at the lowest reliable tier, and verify everything.</a:t>
            </a:r>
          </a:p>
          <a:p xmlns:a="http://schemas.openxmlformats.org/drawingml/2006/main">
            <a:r>
              <a:t/>
            </a:r>
          </a:p>
          <a:p xmlns:a="http://schemas.openxmlformats.org/drawingml/2006/main">
            <a:r>
              <a:t>[Sources]</a:t>
            </a:r>
          </a:p>
          <a:p xmlns:a="http://schemas.openxmlformats.org/drawingml/2006/main">
            <a:r>
              <a:t>- benchmark/reports/final-study-report.md</a:t>
            </a:r>
          </a:p>
          <a:p xmlns:a="http://schemas.openxmlformats.org/drawingml/2006/main">
            <a:r>
              <a:t>- benchmark/reports/phase-2/PHASE-2-COMPREHENSIVE.md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54f8a4dfc349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d36c89d494406b" /><Relationship Type="http://schemas.openxmlformats.org/officeDocument/2006/relationships/slideLayout" Target="/ppt/slideLayouts/slideLayout1.xml" Id="R64fd5159863d40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fd5159863d40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25f87095984106" /><Relationship Type="http://schemas.openxmlformats.org/officeDocument/2006/relationships/image" Target="/ppt/media/image.png" Id="Rccaf65d6b8174560" /><Relationship Type="http://schemas.openxmlformats.org/officeDocument/2006/relationships/notesSlide" Target="/ppt/notesSlides/notesSlide1.xml" Id="Rf838f7553fc144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23368f79184bd1" /><Relationship Type="http://schemas.openxmlformats.org/officeDocument/2006/relationships/notesSlide" Target="/ppt/notesSlides/notesSlide2.xml" Id="R82f68d82f9a144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61bbe86b2241c7" /><Relationship Type="http://schemas.openxmlformats.org/officeDocument/2006/relationships/notesSlide" Target="/ppt/notesSlides/notesSlide3.xml" Id="Re311f04a324c4d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c7cd69e4f74b9c" /><Relationship Type="http://schemas.openxmlformats.org/officeDocument/2006/relationships/notesSlide" Target="/ppt/notesSlides/notesSlide4.xml" Id="Rb4340ee0901941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219cc92ac04b5b" /><Relationship Type="http://schemas.openxmlformats.org/officeDocument/2006/relationships/notesSlide" Target="/ppt/notesSlides/notesSlide5.xml" Id="Rce9a863e0e6045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7f1b60233341d6" /><Relationship Type="http://schemas.openxmlformats.org/officeDocument/2006/relationships/notesSlide" Target="/ppt/notesSlides/notesSlide6.xml" Id="Re947030d6e1548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b828dbdcc54ae3" /><Relationship Type="http://schemas.openxmlformats.org/officeDocument/2006/relationships/notesSlide" Target="/ppt/notesSlides/notesSlide7.xml" Id="R9574f822179f47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b4ae0963fe440e8" /><Relationship Type="http://schemas.openxmlformats.org/officeDocument/2006/relationships/image" Target="/ppt/media/image.jpeg" Id="R0a7a4558b5bb4dcc" /><Relationship Type="http://schemas.openxmlformats.org/officeDocument/2006/relationships/notesSlide" Target="/ppt/notesSlides/notesSlide8.xml" Id="Re9b649846a884a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988a856f004381" /><Relationship Type="http://schemas.openxmlformats.org/officeDocument/2006/relationships/image" Target="/ppt/media/image2.jpeg" Id="Rc700b848e54b44a7" /><Relationship Type="http://schemas.openxmlformats.org/officeDocument/2006/relationships/notesSlide" Target="/ppt/notesSlides/notesSlide9.xml" Id="R0b2460716e9546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9996d8dac234160" /><Relationship Type="http://schemas.openxmlformats.org/officeDocument/2006/relationships/notesSlide" Target="/ppt/notesSlides/notesSlide10.xml" Id="R9ad15ff168a444d0" /></Relationships>
</file>

<file path=ppt/slides/slide1.xml><?xml version="1.0" encoding="utf-8"?>
<p:sld xmlns:p="http://schemas.openxmlformats.org/presentationml/2006/main">
  <p:cSld>
    <p:bg>
      <p:bgPr>
        <a:solidFill xmlns:a="http://schemas.openxmlformats.org/drawingml/2006/main">
          <a:srgbClr val="111411"/>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ccaf65d6b8174560"/>
          <a:srcRect xmlns:a="http://schemas.openxmlformats.org/drawingml/2006/main" l="10" t="0" r="10" b="0"/>
          <a:stretch xmlns:a="http://schemas.openxmlformats.org/drawingml/2006/main">
            <a:fillRect l="0" t="0" r="0" b="0"/>
          </a:stretch>
        </p:blipFill>
        <p:spPr>
          <a:xfrm xmlns:a="http://schemas.openxmlformats.org/drawingml/2006/main">
            <a:off x="0" y="0"/>
            <a:ext cx="12192000" cy="6505575"/>
          </a:xfrm>
          <a:prstGeom xmlns:a="http://schemas.openxmlformats.org/drawingml/2006/main" prst="rect">
            <a:avLst/>
          </a:prstGeom>
        </p:spPr>
      </p:pic>
      <p:sp>
        <p:nvSpPr>
          <p:cNvPr id="2" name="cover-bottom-rule">
            <a:extLst xmlns:a="http://schemas.openxmlformats.org/drawingml/2006/main">
              <a:ext uri="{FF2B5EF4-FFF2-40B4-BE49-F238E27FC236}">
                <a16:creationId xmlns:a16="http://schemas.microsoft.com/office/drawing/2014/main" id="{08C75635-79F9-42BF-830E-2E7E62402F8C}"/>
              </a:ext>
            </a:extLst>
          </p:cNvPr>
          <p:cNvSpPr>
            <a:spLocks xmlns:a="http://schemas.openxmlformats.org/drawingml/2006/main" noGrp="1"/>
          </p:cNvSpPr>
          <p:nvPr/>
        </p:nvSpPr>
        <p:spPr>
          <a:xfrm xmlns:a="http://schemas.openxmlformats.org/drawingml/2006/main">
            <a:off x="0" y="6505575"/>
            <a:ext cx="12192000" cy="352425"/>
          </a:xfrm>
          <a:prstGeom xmlns:a="http://schemas.openxmlformats.org/drawingml/2006/main" prst="rect">
            <a:avLst/>
          </a:prstGeom>
          <a:solidFill xmlns:a="http://schemas.openxmlformats.org/drawingml/2006/main">
            <a:srgbClr val="C8FF3D"/>
          </a:solidFill>
          <a:ln xmlns:a="http://schemas.openxmlformats.org/drawingml/2006/main" w="0">
            <a:noFill/>
            <a:prstDash val="solid"/>
          </a:ln>
        </p:spPr>
      </p:sp>
    </p:spTree>
    <p:extLst>
      <p:ext uri="{BB962C8B-B14F-4D97-AF65-F5344CB8AC3E}">
        <p14:creationId xmlns:p14="http://schemas.microsoft.com/office/powerpoint/2010/main" val="1955857677"/>
      </p:ext>
    </p:extLst>
  </p:cSld>
</p:sld>
</file>

<file path=ppt/slides/slide2.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20" name="eyebrow-01 / Study design">
            <a:extLst xmlns:a="http://schemas.openxmlformats.org/drawingml/2006/main">
              <a:ext uri="{FF2B5EF4-FFF2-40B4-BE49-F238E27FC236}">
                <a16:creationId xmlns:a16="http://schemas.microsoft.com/office/drawing/2014/main" id="{EDDC61B8-71AD-4C1A-9C25-0ECADD3F7426}"/>
              </a:ext>
            </a:extLst>
          </p:cNvPr>
          <p:cNvSpPr>
            <a:spLocks xmlns:a="http://schemas.openxmlformats.org/drawingml/2006/main" noGrp="1"/>
          </p:cNvSpPr>
          <p:nvPr/>
        </p:nvSpPr>
        <p:spPr>
          <a:xfrm xmlns:a="http://schemas.openxmlformats.org/drawingml/2006/main">
            <a:off x="609600" y="438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15CFF"/>
                </a:solidFill>
              </a:defRPr>
            </a:pPr>
            <a:r>
              <a:rPr sz="975" b="1">
                <a:solidFill>
                  <a:srgbClr val="315CFF"/>
                </a:solidFill>
              </a:rPr>
              <a:t>01 / STUDY DESIGN</a:t>
            </a:r>
          </a:p>
        </p:txBody>
      </p:sp>
      <p:sp>
        <p:nvSpPr>
          <p:cNvPr id="2" name="title-The product and the model are different experiments.">
            <a:extLst xmlns:a="http://schemas.openxmlformats.org/drawingml/2006/main">
              <a:ext uri="{FF2B5EF4-FFF2-40B4-BE49-F238E27FC236}">
                <a16:creationId xmlns:a16="http://schemas.microsoft.com/office/drawing/2014/main" id="{7947D8D5-871C-4973-96AA-BCB22C5B1743}"/>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111411"/>
                </a:solidFill>
              </a:defRPr>
            </a:pPr>
            <a:r>
              <a:rPr sz="3300" b="1">
                <a:solidFill>
                  <a:srgbClr val="111411"/>
                </a:solidFill>
              </a:rPr>
              <a:t>The product and the model are different experiments.</a:t>
            </a:r>
          </a:p>
        </p:txBody>
      </p:sp>
      <p:sp>
        <p:nvSpPr>
          <p:cNvPr id="3" name="design-subtitle">
            <a:extLst xmlns:a="http://schemas.openxmlformats.org/drawingml/2006/main">
              <a:ext uri="{FF2B5EF4-FFF2-40B4-BE49-F238E27FC236}">
                <a16:creationId xmlns:a16="http://schemas.microsoft.com/office/drawing/2014/main" id="{41072800-6F31-4352-AE2A-EDED8517025F}"/>
              </a:ext>
            </a:extLst>
          </p:cNvPr>
          <p:cNvSpPr>
            <a:spLocks xmlns:a="http://schemas.openxmlformats.org/drawingml/2006/main" noGrp="1"/>
          </p:cNvSpPr>
          <p:nvPr/>
        </p:nvSpPr>
        <p:spPr>
          <a:xfrm xmlns:a="http://schemas.openxmlformats.org/drawingml/2006/main">
            <a:off x="609600" y="1676400"/>
            <a:ext cx="942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86C65"/>
                </a:solidFill>
              </a:defRPr>
            </a:pPr>
            <a:r>
              <a:rPr sz="1500" b="0">
                <a:solidFill>
                  <a:srgbClr val="686C65"/>
                </a:solidFill>
              </a:rPr>
              <a:t>Phase 1 measured complete coding assistants. Phase 2 held the Pi control surface fixed and changed only the model route.</a:t>
            </a:r>
          </a:p>
        </p:txBody>
      </p:sp>
      <p:sp>
        <p:nvSpPr>
          <p:cNvPr id="4" name="phase1">
            <a:extLst xmlns:a="http://schemas.openxmlformats.org/drawingml/2006/main">
              <a:ext uri="{FF2B5EF4-FFF2-40B4-BE49-F238E27FC236}">
                <a16:creationId xmlns:a16="http://schemas.microsoft.com/office/drawing/2014/main" id="{63252851-35A5-438B-903D-D015BE2B42DB}"/>
              </a:ext>
            </a:extLst>
          </p:cNvPr>
          <p:cNvSpPr>
            <a:spLocks xmlns:a="http://schemas.openxmlformats.org/drawingml/2006/main" noGrp="1"/>
          </p:cNvSpPr>
          <p:nvPr/>
        </p:nvSpPr>
        <p:spPr>
          <a:xfrm xmlns:a="http://schemas.openxmlformats.org/drawingml/2006/main">
            <a:off x="762000" y="2590800"/>
            <a:ext cx="3810000" cy="2362200"/>
          </a:xfrm>
          <a:prstGeom xmlns:a="http://schemas.openxmlformats.org/drawingml/2006/main" prst="roundRect">
            <a:avLst>
              <a:gd name="adj" fmla="val 4839"/>
            </a:avLst>
          </a:prstGeom>
          <a:solidFill xmlns:a="http://schemas.openxmlformats.org/drawingml/2006/main">
            <a:srgbClr val="FBFAF5"/>
          </a:solidFill>
          <a:ln xmlns:a="http://schemas.openxmlformats.org/drawingml/2006/main" w="9525">
            <a:solidFill>
              <a:srgbClr val="D4D0C5"/>
            </a:solidFill>
            <a:prstDash val="solid"/>
          </a:ln>
        </p:spPr>
      </p:sp>
      <p:sp>
        <p:nvSpPr>
          <p:cNvPr id="5" name="phase1-label">
            <a:extLst xmlns:a="http://schemas.openxmlformats.org/drawingml/2006/main">
              <a:ext uri="{FF2B5EF4-FFF2-40B4-BE49-F238E27FC236}">
                <a16:creationId xmlns:a16="http://schemas.microsoft.com/office/drawing/2014/main" id="{AA9DA6F0-3A4A-42E9-9965-A2F1911D3E17}"/>
              </a:ext>
            </a:extLst>
          </p:cNvPr>
          <p:cNvSpPr>
            <a:spLocks xmlns:a="http://schemas.openxmlformats.org/drawingml/2006/main" noGrp="1"/>
          </p:cNvSpPr>
          <p:nvPr/>
        </p:nvSpPr>
        <p:spPr>
          <a:xfrm xmlns:a="http://schemas.openxmlformats.org/drawingml/2006/main">
            <a:off x="1028700" y="28575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15CFF"/>
                </a:solidFill>
              </a:defRPr>
            </a:pPr>
            <a:r>
              <a:rPr sz="900" b="1">
                <a:solidFill>
                  <a:srgbClr val="315CFF"/>
                </a:solidFill>
              </a:rPr>
              <a:t>PHASE 1</a:t>
            </a:r>
          </a:p>
        </p:txBody>
      </p:sp>
      <p:sp>
        <p:nvSpPr>
          <p:cNvPr id="6" name="phase1-title">
            <a:extLst xmlns:a="http://schemas.openxmlformats.org/drawingml/2006/main">
              <a:ext uri="{FF2B5EF4-FFF2-40B4-BE49-F238E27FC236}">
                <a16:creationId xmlns:a16="http://schemas.microsoft.com/office/drawing/2014/main" id="{BB14418E-4293-4236-992F-67669F9C4020}"/>
              </a:ext>
            </a:extLst>
          </p:cNvPr>
          <p:cNvSpPr>
            <a:spLocks xmlns:a="http://schemas.openxmlformats.org/drawingml/2006/main" noGrp="1"/>
          </p:cNvSpPr>
          <p:nvPr/>
        </p:nvSpPr>
        <p:spPr>
          <a:xfrm xmlns:a="http://schemas.openxmlformats.org/drawingml/2006/main">
            <a:off x="1028700" y="3295650"/>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11411"/>
                </a:solidFill>
              </a:defRPr>
            </a:pPr>
            <a:r>
              <a:rPr sz="2250" b="1">
                <a:solidFill>
                  <a:srgbClr val="111411"/>
                </a:solidFill>
              </a:rPr>
              <a:t>Assistant products</a:t>
            </a:r>
          </a:p>
        </p:txBody>
      </p:sp>
      <p:sp>
        <p:nvSpPr>
          <p:cNvPr id="7" name="phase1-copy">
            <a:extLst xmlns:a="http://schemas.openxmlformats.org/drawingml/2006/main">
              <a:ext uri="{FF2B5EF4-FFF2-40B4-BE49-F238E27FC236}">
                <a16:creationId xmlns:a16="http://schemas.microsoft.com/office/drawing/2014/main" id="{B8B2FE5F-FE0B-48C0-B2B5-C978A845A168}"/>
              </a:ext>
            </a:extLst>
          </p:cNvPr>
          <p:cNvSpPr>
            <a:spLocks xmlns:a="http://schemas.openxmlformats.org/drawingml/2006/main" noGrp="1"/>
          </p:cNvSpPr>
          <p:nvPr/>
        </p:nvSpPr>
        <p:spPr>
          <a:xfrm xmlns:a="http://schemas.openxmlformats.org/drawingml/2006/main">
            <a:off x="1028700" y="3857625"/>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86C65"/>
                </a:solidFill>
              </a:defRPr>
            </a:pPr>
            <a:r>
              <a:rPr sz="1350" b="0">
                <a:solidFill>
                  <a:srgbClr val="686C65"/>
                </a:solidFill>
              </a:rPr>
              <a:t>Planning, permissions, tools, plugins, context, integration, and distributed work.</a:t>
            </a:r>
          </a:p>
        </p:txBody>
      </p:sp>
      <p:sp>
        <p:nvSpPr>
          <p:cNvPr id="8" name="phase1-tools">
            <a:extLst xmlns:a="http://schemas.openxmlformats.org/drawingml/2006/main">
              <a:ext uri="{FF2B5EF4-FFF2-40B4-BE49-F238E27FC236}">
                <a16:creationId xmlns:a16="http://schemas.microsoft.com/office/drawing/2014/main" id="{69D7607A-C93C-4D29-88E1-056D27F072DE}"/>
              </a:ext>
            </a:extLst>
          </p:cNvPr>
          <p:cNvSpPr>
            <a:spLocks xmlns:a="http://schemas.openxmlformats.org/drawingml/2006/main" noGrp="1"/>
          </p:cNvSpPr>
          <p:nvPr/>
        </p:nvSpPr>
        <p:spPr>
          <a:xfrm xmlns:a="http://schemas.openxmlformats.org/drawingml/2006/main">
            <a:off x="1028700" y="46101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15CFF"/>
                </a:solidFill>
              </a:defRPr>
            </a:pPr>
            <a:r>
              <a:rPr sz="900" b="1">
                <a:solidFill>
                  <a:srgbClr val="315CFF"/>
                </a:solidFill>
              </a:rPr>
              <a:t>CODEX  ·  CLAUDE CODE  ·  OPENCODE</a:t>
            </a:r>
          </a:p>
        </p:txBody>
      </p:sp>
      <p:sp>
        <p:nvSpPr>
          <p:cNvPr id="9" name="design-arrow">
            <a:extLst xmlns:a="http://schemas.openxmlformats.org/drawingml/2006/main">
              <a:ext uri="{FF2B5EF4-FFF2-40B4-BE49-F238E27FC236}">
                <a16:creationId xmlns:a16="http://schemas.microsoft.com/office/drawing/2014/main" id="{70B93FE6-F06F-41EA-9063-5B273321A610}"/>
              </a:ext>
            </a:extLst>
          </p:cNvPr>
          <p:cNvSpPr>
            <a:spLocks xmlns:a="http://schemas.openxmlformats.org/drawingml/2006/main" noGrp="1"/>
          </p:cNvSpPr>
          <p:nvPr/>
        </p:nvSpPr>
        <p:spPr>
          <a:xfrm xmlns:a="http://schemas.openxmlformats.org/drawingml/2006/main">
            <a:off x="4819650" y="3314700"/>
            <a:ext cx="781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a:solidFill>
                  <a:srgbClr val="FF5D47"/>
                </a:solidFill>
              </a:defRPr>
            </a:pPr>
            <a:r>
              <a:rPr sz="3300" b="1">
                <a:solidFill>
                  <a:srgbClr val="FF5D47"/>
                </a:solidFill>
              </a:rPr>
              <a:t>→</a:t>
            </a:r>
          </a:p>
        </p:txBody>
      </p:sp>
      <p:sp>
        <p:nvSpPr>
          <p:cNvPr id="10" name="design-handoff">
            <a:extLst xmlns:a="http://schemas.openxmlformats.org/drawingml/2006/main">
              <a:ext uri="{FF2B5EF4-FFF2-40B4-BE49-F238E27FC236}">
                <a16:creationId xmlns:a16="http://schemas.microsoft.com/office/drawing/2014/main" id="{70F2B2DF-305E-4C12-81EE-CE2D6DC18F70}"/>
              </a:ext>
            </a:extLst>
          </p:cNvPr>
          <p:cNvSpPr>
            <a:spLocks xmlns:a="http://schemas.openxmlformats.org/drawingml/2006/main" noGrp="1"/>
          </p:cNvSpPr>
          <p:nvPr/>
        </p:nvSpPr>
        <p:spPr>
          <a:xfrm xmlns:a="http://schemas.openxmlformats.org/drawingml/2006/main">
            <a:off x="4762500" y="3943350"/>
            <a:ext cx="895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686C65"/>
                </a:solidFill>
              </a:defRPr>
            </a:pPr>
            <a:r>
              <a:rPr sz="900" b="1">
                <a:solidFill>
                  <a:srgbClr val="686C65"/>
                </a:solidFill>
              </a:rPr>
              <a:t>EVIDENCE</a:t>
            </a:r>
          </a:p>
          <a:p xmlns:a="http://schemas.openxmlformats.org/drawingml/2006/main">
            <a:pPr algn="ctr">
              <a:defRPr sz="900" b="1">
                <a:solidFill>
                  <a:srgbClr val="686C65"/>
                </a:solidFill>
              </a:defRPr>
            </a:pPr>
            <a:r>
              <a:rPr sz="900" b="1">
                <a:solidFill>
                  <a:srgbClr val="686C65"/>
                </a:solidFill>
              </a:rPr>
              <a:t>HANDOFF</a:t>
            </a:r>
          </a:p>
        </p:txBody>
      </p:sp>
      <p:sp>
        <p:nvSpPr>
          <p:cNvPr id="11" name="phase2">
            <a:extLst xmlns:a="http://schemas.openxmlformats.org/drawingml/2006/main">
              <a:ext uri="{FF2B5EF4-FFF2-40B4-BE49-F238E27FC236}">
                <a16:creationId xmlns:a16="http://schemas.microsoft.com/office/drawing/2014/main" id="{9DD30FB9-50DF-4601-81A9-4EFDD9ABA161}"/>
              </a:ext>
            </a:extLst>
          </p:cNvPr>
          <p:cNvSpPr>
            <a:spLocks xmlns:a="http://schemas.openxmlformats.org/drawingml/2006/main" noGrp="1"/>
          </p:cNvSpPr>
          <p:nvPr/>
        </p:nvSpPr>
        <p:spPr>
          <a:xfrm xmlns:a="http://schemas.openxmlformats.org/drawingml/2006/main">
            <a:off x="5810250" y="2590800"/>
            <a:ext cx="5619750" cy="2362200"/>
          </a:xfrm>
          <a:prstGeom xmlns:a="http://schemas.openxmlformats.org/drawingml/2006/main" prst="roundRect">
            <a:avLst>
              <a:gd name="adj" fmla="val 4839"/>
            </a:avLst>
          </a:prstGeom>
          <a:solidFill xmlns:a="http://schemas.openxmlformats.org/drawingml/2006/main">
            <a:srgbClr val="111411"/>
          </a:solidFill>
          <a:ln xmlns:a="http://schemas.openxmlformats.org/drawingml/2006/main" w="0">
            <a:noFill/>
            <a:prstDash val="solid"/>
          </a:ln>
        </p:spPr>
      </p:sp>
      <p:sp>
        <p:nvSpPr>
          <p:cNvPr id="12" name="phase2-label">
            <a:extLst xmlns:a="http://schemas.openxmlformats.org/drawingml/2006/main">
              <a:ext uri="{FF2B5EF4-FFF2-40B4-BE49-F238E27FC236}">
                <a16:creationId xmlns:a16="http://schemas.microsoft.com/office/drawing/2014/main" id="{BE53E47E-885C-4EC1-BBEC-F02446E81548}"/>
              </a:ext>
            </a:extLst>
          </p:cNvPr>
          <p:cNvSpPr>
            <a:spLocks xmlns:a="http://schemas.openxmlformats.org/drawingml/2006/main" noGrp="1"/>
          </p:cNvSpPr>
          <p:nvPr/>
        </p:nvSpPr>
        <p:spPr>
          <a:xfrm xmlns:a="http://schemas.openxmlformats.org/drawingml/2006/main">
            <a:off x="6115050" y="28575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C8FF3D"/>
                </a:solidFill>
              </a:defRPr>
            </a:pPr>
            <a:r>
              <a:rPr sz="900" b="1">
                <a:solidFill>
                  <a:srgbClr val="C8FF3D"/>
                </a:solidFill>
              </a:rPr>
              <a:t>PHASE 2</a:t>
            </a:r>
          </a:p>
        </p:txBody>
      </p:sp>
      <p:sp>
        <p:nvSpPr>
          <p:cNvPr id="13" name="phase2-title">
            <a:extLst xmlns:a="http://schemas.openxmlformats.org/drawingml/2006/main">
              <a:ext uri="{FF2B5EF4-FFF2-40B4-BE49-F238E27FC236}">
                <a16:creationId xmlns:a16="http://schemas.microsoft.com/office/drawing/2014/main" id="{801EC2E4-A557-4EA5-8BBE-2CA122273F38}"/>
              </a:ext>
            </a:extLst>
          </p:cNvPr>
          <p:cNvSpPr>
            <a:spLocks xmlns:a="http://schemas.openxmlformats.org/drawingml/2006/main" noGrp="1"/>
          </p:cNvSpPr>
          <p:nvPr/>
        </p:nvSpPr>
        <p:spPr>
          <a:xfrm xmlns:a="http://schemas.openxmlformats.org/drawingml/2006/main">
            <a:off x="6115050" y="329565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BFAF5"/>
                </a:solidFill>
              </a:defRPr>
            </a:pPr>
            <a:r>
              <a:rPr sz="2250" b="1">
                <a:solidFill>
                  <a:srgbClr val="FBFAF5"/>
                </a:solidFill>
              </a:rPr>
              <a:t>Models in one harness</a:t>
            </a:r>
          </a:p>
        </p:txBody>
      </p:sp>
      <p:sp>
        <p:nvSpPr>
          <p:cNvPr id="14" name="phase2-copy">
            <a:extLst xmlns:a="http://schemas.openxmlformats.org/drawingml/2006/main">
              <a:ext uri="{FF2B5EF4-FFF2-40B4-BE49-F238E27FC236}">
                <a16:creationId xmlns:a16="http://schemas.microsoft.com/office/drawing/2014/main" id="{40212A53-F390-46E3-ACA3-CB0ADD65C400}"/>
              </a:ext>
            </a:extLst>
          </p:cNvPr>
          <p:cNvSpPr>
            <a:spLocks xmlns:a="http://schemas.openxmlformats.org/drawingml/2006/main" noGrp="1"/>
          </p:cNvSpPr>
          <p:nvPr/>
        </p:nvSpPr>
        <p:spPr>
          <a:xfrm xmlns:a="http://schemas.openxmlformats.org/drawingml/2006/main">
            <a:off x="6115050" y="3857625"/>
            <a:ext cx="4400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B8BEB6"/>
                </a:solidFill>
              </a:defRPr>
            </a:pPr>
            <a:r>
              <a:rPr sz="1350" b="0">
                <a:solidFill>
                  <a:srgbClr val="B8BEB6"/>
                </a:solidFill>
              </a:rPr>
              <a:t>Same baseline, prompt, tools, provider, timeouts, zero intervention, and private verification.</a:t>
            </a:r>
          </a:p>
        </p:txBody>
      </p:sp>
      <p:sp>
        <p:nvSpPr>
          <p:cNvPr id="15" name="phase2-models">
            <a:extLst xmlns:a="http://schemas.openxmlformats.org/drawingml/2006/main">
              <a:ext uri="{FF2B5EF4-FFF2-40B4-BE49-F238E27FC236}">
                <a16:creationId xmlns:a16="http://schemas.microsoft.com/office/drawing/2014/main" id="{D74E5AF8-4A7A-4DBB-9FC2-F7CBD0928609}"/>
              </a:ext>
            </a:extLst>
          </p:cNvPr>
          <p:cNvSpPr>
            <a:spLocks xmlns:a="http://schemas.openxmlformats.org/drawingml/2006/main" noGrp="1"/>
          </p:cNvSpPr>
          <p:nvPr/>
        </p:nvSpPr>
        <p:spPr>
          <a:xfrm xmlns:a="http://schemas.openxmlformats.org/drawingml/2006/main">
            <a:off x="6115050" y="46101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C8FF3D"/>
                </a:solidFill>
              </a:defRPr>
            </a:pPr>
            <a:r>
              <a:rPr sz="900" b="1">
                <a:solidFill>
                  <a:srgbClr val="C8FF3D"/>
                </a:solidFill>
              </a:rPr>
              <a:t>SOL  ·  FABLE  ·  GLM  ·  QWEN  ·  KIMI</a:t>
            </a:r>
          </a:p>
        </p:txBody>
      </p:sp>
      <p:sp>
        <p:nvSpPr>
          <p:cNvPr id="16" name="design-takeaway">
            <a:extLst xmlns:a="http://schemas.openxmlformats.org/drawingml/2006/main">
              <a:ext uri="{FF2B5EF4-FFF2-40B4-BE49-F238E27FC236}">
                <a16:creationId xmlns:a16="http://schemas.microsoft.com/office/drawing/2014/main" id="{535D1452-BC79-4348-B1CF-10E378DC4215}"/>
              </a:ext>
            </a:extLst>
          </p:cNvPr>
          <p:cNvSpPr>
            <a:spLocks xmlns:a="http://schemas.openxmlformats.org/drawingml/2006/main" noGrp="1"/>
          </p:cNvSpPr>
          <p:nvPr/>
        </p:nvSpPr>
        <p:spPr>
          <a:xfrm xmlns:a="http://schemas.openxmlformats.org/drawingml/2006/main">
            <a:off x="762000" y="54483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411"/>
                </a:solidFill>
              </a:defRPr>
            </a:pPr>
            <a:r>
              <a:rPr sz="1650" b="1">
                <a:solidFill>
                  <a:srgbClr val="111411"/>
                </a:solidFill>
              </a:rPr>
              <a:t>This separation prevents assistant polish from being mistaken for model capability.</a:t>
            </a:r>
          </a:p>
        </p:txBody>
      </p:sp>
      <p:sp>
        <p:nvSpPr>
          <p:cNvPr id="17" name="footer-line-2">
            <a:extLst xmlns:a="http://schemas.openxmlformats.org/drawingml/2006/main">
              <a:ext uri="{FF2B5EF4-FFF2-40B4-BE49-F238E27FC236}">
                <a16:creationId xmlns:a16="http://schemas.microsoft.com/office/drawing/2014/main" id="{AB55A1C4-E82D-49C1-9977-F4DAC8706BC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4D0C5"/>
          </a:solidFill>
          <a:ln xmlns:a="http://schemas.openxmlformats.org/drawingml/2006/main" w="0">
            <a:noFill/>
            <a:prstDash val="solid"/>
          </a:ln>
        </p:spPr>
      </p:sp>
      <p:sp>
        <p:nvSpPr>
          <p:cNvPr id="18" name="footer-brand-2">
            <a:extLst xmlns:a="http://schemas.openxmlformats.org/drawingml/2006/main">
              <a:ext uri="{FF2B5EF4-FFF2-40B4-BE49-F238E27FC236}">
                <a16:creationId xmlns:a16="http://schemas.microsoft.com/office/drawing/2014/main" id="{7D4A73E8-6A82-4D07-8410-AC214DE2BA04}"/>
              </a:ext>
            </a:extLst>
          </p:cNvPr>
          <p:cNvSpPr>
            <a:spLocks xmlns:a="http://schemas.openxmlformats.org/drawingml/2006/main" noGrp="1"/>
          </p:cNvSpPr>
          <p:nvPr/>
        </p:nvSpPr>
        <p:spPr>
          <a:xfrm xmlns:a="http://schemas.openxmlformats.org/drawingml/2006/main">
            <a:off x="609600" y="65532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686C65"/>
                </a:solidFill>
              </a:defRPr>
            </a:pPr>
            <a:r>
              <a:rPr sz="750" b="1">
                <a:solidFill>
                  <a:srgbClr val="686C65"/>
                </a:solidFill>
              </a:rPr>
              <a:t>CODING INTELLIGENCE FIELD STUDY</a:t>
            </a:r>
          </a:p>
        </p:txBody>
      </p:sp>
      <p:sp>
        <p:nvSpPr>
          <p:cNvPr id="19" name="footer-number-2">
            <a:extLst xmlns:a="http://schemas.openxmlformats.org/drawingml/2006/main">
              <a:ext uri="{FF2B5EF4-FFF2-40B4-BE49-F238E27FC236}">
                <a16:creationId xmlns:a16="http://schemas.microsoft.com/office/drawing/2014/main" id="{1C724601-FAFF-4179-AC2D-8ACF7D20ACBD}"/>
              </a:ext>
            </a:extLst>
          </p:cNvPr>
          <p:cNvSpPr>
            <a:spLocks xmlns:a="http://schemas.openxmlformats.org/drawingml/2006/main" noGrp="1"/>
          </p:cNvSpPr>
          <p:nvPr/>
        </p:nvSpPr>
        <p:spPr>
          <a:xfrm xmlns:a="http://schemas.openxmlformats.org/drawingml/2006/main">
            <a:off x="11125200" y="65532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111411"/>
                </a:solidFill>
              </a:defRPr>
            </a:pPr>
            <a:r>
              <a:rPr sz="750" b="1">
                <a:solidFill>
                  <a:srgbClr val="111411"/>
                </a:solidFill>
              </a:rPr>
              <a:t>02</a:t>
            </a:r>
          </a:p>
        </p:txBody>
      </p:sp>
    </p:spTree>
    <p:extLst>
      <p:ext uri="{BB962C8B-B14F-4D97-AF65-F5344CB8AC3E}">
        <p14:creationId xmlns:p14="http://schemas.microsoft.com/office/powerpoint/2010/main" val="225314907"/>
      </p:ext>
    </p:extLst>
  </p:cSld>
</p:sld>
</file>

<file path=ppt/slides/slide3.xml><?xml version="1.0" encoding="utf-8"?>
<p:sld xmlns:p="http://schemas.openxmlformats.org/presentationml/2006/main">
  <p:cSld>
    <p:bg>
      <p:bgPr>
        <a:solidFill xmlns:a="http://schemas.openxmlformats.org/drawingml/2006/main">
          <a:srgbClr val="111411"/>
        </a:solidFill>
      </p:bgPr>
    </p:bg>
    <p:spTree>
      <p:nvGrpSpPr>
        <p:cNvPr id="1" name=""/>
        <p:cNvGrpSpPr/>
        <p:nvPr/>
      </p:nvGrpSpPr>
      <p:grpSpPr>
        <a:xfrm xmlns:a="http://schemas.openxmlformats.org/drawingml/2006/main"/>
      </p:grpSpPr>
      <p:sp>
        <p:nvSpPr>
          <p:cNvPr id="28" name="eyebrow-02 / Assistant differentiation">
            <a:extLst xmlns:a="http://schemas.openxmlformats.org/drawingml/2006/main">
              <a:ext uri="{FF2B5EF4-FFF2-40B4-BE49-F238E27FC236}">
                <a16:creationId xmlns:a16="http://schemas.microsoft.com/office/drawing/2014/main" id="{033530AC-FEB9-40BE-BF77-88EF11BB5D2C}"/>
              </a:ext>
            </a:extLst>
          </p:cNvPr>
          <p:cNvSpPr>
            <a:spLocks xmlns:a="http://schemas.openxmlformats.org/drawingml/2006/main" noGrp="1"/>
          </p:cNvSpPr>
          <p:nvPr/>
        </p:nvSpPr>
        <p:spPr>
          <a:xfrm xmlns:a="http://schemas.openxmlformats.org/drawingml/2006/main">
            <a:off x="609600" y="438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8FF3D"/>
                </a:solidFill>
              </a:defRPr>
            </a:pPr>
            <a:r>
              <a:rPr sz="975" b="1">
                <a:solidFill>
                  <a:srgbClr val="C8FF3D"/>
                </a:solidFill>
              </a:rPr>
              <a:t>02 / ASSISTANT DIFFERENTIATION</a:t>
            </a:r>
          </a:p>
        </p:txBody>
      </p:sp>
      <p:sp>
        <p:nvSpPr>
          <p:cNvPr id="2" name="title-Four tools earned four different jobs.">
            <a:extLst xmlns:a="http://schemas.openxmlformats.org/drawingml/2006/main">
              <a:ext uri="{FF2B5EF4-FFF2-40B4-BE49-F238E27FC236}">
                <a16:creationId xmlns:a16="http://schemas.microsoft.com/office/drawing/2014/main" id="{686B506F-927E-4C0E-91A1-AF638D16F9CD}"/>
              </a:ext>
            </a:extLst>
          </p:cNvPr>
          <p:cNvSpPr>
            <a:spLocks xmlns:a="http://schemas.openxmlformats.org/drawingml/2006/main" noGrp="1"/>
          </p:cNvSpPr>
          <p:nvPr/>
        </p:nvSpPr>
        <p:spPr>
          <a:xfrm xmlns:a="http://schemas.openxmlformats.org/drawingml/2006/main">
            <a:off x="609600" y="781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525" b="1">
                <a:solidFill>
                  <a:srgbClr val="FBFAF5"/>
                </a:solidFill>
              </a:defRPr>
            </a:pPr>
            <a:r>
              <a:rPr sz="3525" b="1">
                <a:solidFill>
                  <a:srgbClr val="FBFAF5"/>
                </a:solidFill>
              </a:rPr>
              <a:t>Four tools earned four different jobs.</a:t>
            </a:r>
          </a:p>
        </p:txBody>
      </p:sp>
      <p:sp>
        <p:nvSpPr>
          <p:cNvPr id="3" name="assistant-subtitle">
            <a:extLst xmlns:a="http://schemas.openxmlformats.org/drawingml/2006/main">
              <a:ext uri="{FF2B5EF4-FFF2-40B4-BE49-F238E27FC236}">
                <a16:creationId xmlns:a16="http://schemas.microsoft.com/office/drawing/2014/main" id="{824789CF-A25A-463A-934B-4CB2B062ED79}"/>
              </a:ext>
            </a:extLst>
          </p:cNvPr>
          <p:cNvSpPr>
            <a:spLocks xmlns:a="http://schemas.openxmlformats.org/drawingml/2006/main" noGrp="1"/>
          </p:cNvSpPr>
          <p:nvPr/>
        </p:nvSpPr>
        <p:spPr>
          <a:xfrm xmlns:a="http://schemas.openxmlformats.org/drawingml/2006/main">
            <a:off x="609600" y="1638300"/>
            <a:ext cx="1000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AEB4AC"/>
                </a:solidFill>
              </a:defRPr>
            </a:pPr>
            <a:r>
              <a:rPr sz="1500" b="0">
                <a:solidFill>
                  <a:srgbClr val="AEB4AC"/>
                </a:solidFill>
              </a:rPr>
              <a:t>The assistant advantage sits around the model: permissions, tools, context, review posture, and integration discipline.</a:t>
            </a:r>
          </a:p>
        </p:txBody>
      </p:sp>
      <p:sp>
        <p:nvSpPr>
          <p:cNvPr id="4" name="assistant-rule">
            <a:extLst xmlns:a="http://schemas.openxmlformats.org/drawingml/2006/main">
              <a:ext uri="{FF2B5EF4-FFF2-40B4-BE49-F238E27FC236}">
                <a16:creationId xmlns:a16="http://schemas.microsoft.com/office/drawing/2014/main" id="{8B36091D-0508-44FF-A69E-F9754045A4F5}"/>
              </a:ext>
            </a:extLst>
          </p:cNvPr>
          <p:cNvSpPr>
            <a:spLocks xmlns:a="http://schemas.openxmlformats.org/drawingml/2006/main" noGrp="1"/>
          </p:cNvSpPr>
          <p:nvPr/>
        </p:nvSpPr>
        <p:spPr>
          <a:xfrm xmlns:a="http://schemas.openxmlformats.org/drawingml/2006/main">
            <a:off x="609600" y="2333625"/>
            <a:ext cx="10972800" cy="9525"/>
          </a:xfrm>
          <a:prstGeom xmlns:a="http://schemas.openxmlformats.org/drawingml/2006/main" prst="rect">
            <a:avLst/>
          </a:prstGeom>
          <a:solidFill xmlns:a="http://schemas.openxmlformats.org/drawingml/2006/main">
            <a:srgbClr val="3A403A"/>
          </a:solidFill>
          <a:ln xmlns:a="http://schemas.openxmlformats.org/drawingml/2006/main" w="0">
            <a:noFill/>
            <a:prstDash val="solid"/>
          </a:ln>
        </p:spPr>
      </p:sp>
      <p:sp>
        <p:nvSpPr>
          <p:cNvPr id="5" name="assistant-dot-0">
            <a:extLst xmlns:a="http://schemas.openxmlformats.org/drawingml/2006/main">
              <a:ext uri="{FF2B5EF4-FFF2-40B4-BE49-F238E27FC236}">
                <a16:creationId xmlns:a16="http://schemas.microsoft.com/office/drawing/2014/main" id="{15E4B974-1E4B-4D7E-93FF-6137C35DE992}"/>
              </a:ext>
            </a:extLst>
          </p:cNvPr>
          <p:cNvSpPr>
            <a:spLocks xmlns:a="http://schemas.openxmlformats.org/drawingml/2006/main" noGrp="1"/>
          </p:cNvSpPr>
          <p:nvPr/>
        </p:nvSpPr>
        <p:spPr>
          <a:xfrm xmlns:a="http://schemas.openxmlformats.org/drawingml/2006/main">
            <a:off x="685800" y="2667000"/>
            <a:ext cx="400050" cy="400050"/>
          </a:xfrm>
          <a:prstGeom xmlns:a="http://schemas.openxmlformats.org/drawingml/2006/main" prst="roundRect">
            <a:avLst>
              <a:gd name="adj" fmla="val 28571"/>
            </a:avLst>
          </a:prstGeom>
          <a:solidFill xmlns:a="http://schemas.openxmlformats.org/drawingml/2006/main">
            <a:srgbClr val="C8FF3D"/>
          </a:solidFill>
          <a:ln xmlns:a="http://schemas.openxmlformats.org/drawingml/2006/main" w="0">
            <a:noFill/>
            <a:prstDash val="solid"/>
          </a:ln>
        </p:spPr>
      </p:sp>
      <p:sp>
        <p:nvSpPr>
          <p:cNvPr id="6" name="assistant-name-0">
            <a:extLst xmlns:a="http://schemas.openxmlformats.org/drawingml/2006/main">
              <a:ext uri="{FF2B5EF4-FFF2-40B4-BE49-F238E27FC236}">
                <a16:creationId xmlns:a16="http://schemas.microsoft.com/office/drawing/2014/main" id="{4877F91B-701C-47A6-81B7-865FFD17A6BC}"/>
              </a:ext>
            </a:extLst>
          </p:cNvPr>
          <p:cNvSpPr>
            <a:spLocks xmlns:a="http://schemas.openxmlformats.org/drawingml/2006/main" noGrp="1"/>
          </p:cNvSpPr>
          <p:nvPr/>
        </p:nvSpPr>
        <p:spPr>
          <a:xfrm xmlns:a="http://schemas.openxmlformats.org/drawingml/2006/main">
            <a:off x="1352550" y="26003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BFAF5"/>
                </a:solidFill>
              </a:defRPr>
            </a:pPr>
            <a:r>
              <a:rPr sz="1800" b="1">
                <a:solidFill>
                  <a:srgbClr val="FBFAF5"/>
                </a:solidFill>
              </a:rPr>
              <a:t>CODEX</a:t>
            </a:r>
          </a:p>
        </p:txBody>
      </p:sp>
      <p:sp>
        <p:nvSpPr>
          <p:cNvPr id="7" name="assistant-role-0">
            <a:extLst xmlns:a="http://schemas.openxmlformats.org/drawingml/2006/main">
              <a:ext uri="{FF2B5EF4-FFF2-40B4-BE49-F238E27FC236}">
                <a16:creationId xmlns:a16="http://schemas.microsoft.com/office/drawing/2014/main" id="{8A134CEB-EF6E-43E1-A140-EAD2AACD52E5}"/>
              </a:ext>
            </a:extLst>
          </p:cNvPr>
          <p:cNvSpPr>
            <a:spLocks xmlns:a="http://schemas.openxmlformats.org/drawingml/2006/main" noGrp="1"/>
          </p:cNvSpPr>
          <p:nvPr/>
        </p:nvSpPr>
        <p:spPr>
          <a:xfrm xmlns:a="http://schemas.openxmlformats.org/drawingml/2006/main">
            <a:off x="4000500" y="26193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989F96"/>
                </a:solidFill>
              </a:defRPr>
            </a:pPr>
            <a:r>
              <a:rPr sz="1350" b="0">
                <a:solidFill>
                  <a:srgbClr val="989F96"/>
                </a:solidFill>
              </a:rPr>
              <a:t>Lead and integrator</a:t>
            </a:r>
          </a:p>
        </p:txBody>
      </p:sp>
      <p:sp>
        <p:nvSpPr>
          <p:cNvPr id="8" name="assistant-finding-0">
            <a:extLst xmlns:a="http://schemas.openxmlformats.org/drawingml/2006/main">
              <a:ext uri="{FF2B5EF4-FFF2-40B4-BE49-F238E27FC236}">
                <a16:creationId xmlns:a16="http://schemas.microsoft.com/office/drawing/2014/main" id="{9307E020-0B05-4D47-943E-9BD26523CFCC}"/>
              </a:ext>
            </a:extLst>
          </p:cNvPr>
          <p:cNvSpPr>
            <a:spLocks xmlns:a="http://schemas.openxmlformats.org/drawingml/2006/main" noGrp="1"/>
          </p:cNvSpPr>
          <p:nvPr/>
        </p:nvSpPr>
        <p:spPr>
          <a:xfrm xmlns:a="http://schemas.openxmlformats.org/drawingml/2006/main">
            <a:off x="7715250" y="2609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BFAF5"/>
                </a:solidFill>
              </a:defRPr>
            </a:pPr>
            <a:r>
              <a:rPr sz="1425" b="1">
                <a:solidFill>
                  <a:srgbClr val="FBFAF5"/>
                </a:solidFill>
              </a:rPr>
              <a:t>Best default lead</a:t>
            </a:r>
          </a:p>
        </p:txBody>
      </p:sp>
      <p:sp>
        <p:nvSpPr>
          <p:cNvPr id="9" name="assistant-row-line-0">
            <a:extLst xmlns:a="http://schemas.openxmlformats.org/drawingml/2006/main">
              <a:ext uri="{FF2B5EF4-FFF2-40B4-BE49-F238E27FC236}">
                <a16:creationId xmlns:a16="http://schemas.microsoft.com/office/drawing/2014/main" id="{D603400A-9EC1-4C78-BCA4-DB1BE5A27542}"/>
              </a:ext>
            </a:extLst>
          </p:cNvPr>
          <p:cNvSpPr>
            <a:spLocks xmlns:a="http://schemas.openxmlformats.org/drawingml/2006/main" noGrp="1"/>
          </p:cNvSpPr>
          <p:nvPr/>
        </p:nvSpPr>
        <p:spPr>
          <a:xfrm xmlns:a="http://schemas.openxmlformats.org/drawingml/2006/main">
            <a:off x="1352550" y="3209925"/>
            <a:ext cx="9791700" cy="9525"/>
          </a:xfrm>
          <a:prstGeom xmlns:a="http://schemas.openxmlformats.org/drawingml/2006/main" prst="rect">
            <a:avLst/>
          </a:prstGeom>
          <a:solidFill xmlns:a="http://schemas.openxmlformats.org/drawingml/2006/main">
            <a:srgbClr val="323732"/>
          </a:solidFill>
          <a:ln xmlns:a="http://schemas.openxmlformats.org/drawingml/2006/main" w="0">
            <a:noFill/>
            <a:prstDash val="solid"/>
          </a:ln>
        </p:spPr>
      </p:sp>
      <p:sp>
        <p:nvSpPr>
          <p:cNvPr id="10" name="assistant-dot-1">
            <a:extLst xmlns:a="http://schemas.openxmlformats.org/drawingml/2006/main">
              <a:ext uri="{FF2B5EF4-FFF2-40B4-BE49-F238E27FC236}">
                <a16:creationId xmlns:a16="http://schemas.microsoft.com/office/drawing/2014/main" id="{C2982FC5-30B4-4CBE-B128-5BBD273B5714}"/>
              </a:ext>
            </a:extLst>
          </p:cNvPr>
          <p:cNvSpPr>
            <a:spLocks xmlns:a="http://schemas.openxmlformats.org/drawingml/2006/main" noGrp="1"/>
          </p:cNvSpPr>
          <p:nvPr/>
        </p:nvSpPr>
        <p:spPr>
          <a:xfrm xmlns:a="http://schemas.openxmlformats.org/drawingml/2006/main">
            <a:off x="685800" y="3533775"/>
            <a:ext cx="400050" cy="400050"/>
          </a:xfrm>
          <a:prstGeom xmlns:a="http://schemas.openxmlformats.org/drawingml/2006/main" prst="roundRect">
            <a:avLst>
              <a:gd name="adj" fmla="val 28571"/>
            </a:avLst>
          </a:prstGeom>
          <a:solidFill xmlns:a="http://schemas.openxmlformats.org/drawingml/2006/main">
            <a:srgbClr val="E7ECFF"/>
          </a:solidFill>
          <a:ln xmlns:a="http://schemas.openxmlformats.org/drawingml/2006/main" w="0">
            <a:noFill/>
            <a:prstDash val="solid"/>
          </a:ln>
        </p:spPr>
      </p:sp>
      <p:sp>
        <p:nvSpPr>
          <p:cNvPr id="11" name="assistant-name-1">
            <a:extLst xmlns:a="http://schemas.openxmlformats.org/drawingml/2006/main">
              <a:ext uri="{FF2B5EF4-FFF2-40B4-BE49-F238E27FC236}">
                <a16:creationId xmlns:a16="http://schemas.microsoft.com/office/drawing/2014/main" id="{10B7FBB4-6B0B-4714-92CE-2B9D3AEDDF9A}"/>
              </a:ext>
            </a:extLst>
          </p:cNvPr>
          <p:cNvSpPr>
            <a:spLocks xmlns:a="http://schemas.openxmlformats.org/drawingml/2006/main" noGrp="1"/>
          </p:cNvSpPr>
          <p:nvPr/>
        </p:nvSpPr>
        <p:spPr>
          <a:xfrm xmlns:a="http://schemas.openxmlformats.org/drawingml/2006/main">
            <a:off x="1352550" y="3467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BFAF5"/>
                </a:solidFill>
              </a:defRPr>
            </a:pPr>
            <a:r>
              <a:rPr sz="1800" b="1">
                <a:solidFill>
                  <a:srgbClr val="FBFAF5"/>
                </a:solidFill>
              </a:rPr>
              <a:t>CLAUDE CODE</a:t>
            </a:r>
          </a:p>
        </p:txBody>
      </p:sp>
      <p:sp>
        <p:nvSpPr>
          <p:cNvPr id="12" name="assistant-role-1">
            <a:extLst xmlns:a="http://schemas.openxmlformats.org/drawingml/2006/main">
              <a:ext uri="{FF2B5EF4-FFF2-40B4-BE49-F238E27FC236}">
                <a16:creationId xmlns:a16="http://schemas.microsoft.com/office/drawing/2014/main" id="{7155CE62-AF00-48ED-B874-69749B594CA5}"/>
              </a:ext>
            </a:extLst>
          </p:cNvPr>
          <p:cNvSpPr>
            <a:spLocks xmlns:a="http://schemas.openxmlformats.org/drawingml/2006/main" noGrp="1"/>
          </p:cNvSpPr>
          <p:nvPr/>
        </p:nvSpPr>
        <p:spPr>
          <a:xfrm xmlns:a="http://schemas.openxmlformats.org/drawingml/2006/main">
            <a:off x="4000500" y="34861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989F96"/>
                </a:solidFill>
              </a:defRPr>
            </a:pPr>
            <a:r>
              <a:rPr sz="1350" b="0">
                <a:solidFill>
                  <a:srgbClr val="989F96"/>
                </a:solidFill>
              </a:rPr>
              <a:t>Reviewer and alternate lead</a:t>
            </a:r>
          </a:p>
        </p:txBody>
      </p:sp>
      <p:sp>
        <p:nvSpPr>
          <p:cNvPr id="13" name="assistant-finding-1">
            <a:extLst xmlns:a="http://schemas.openxmlformats.org/drawingml/2006/main">
              <a:ext uri="{FF2B5EF4-FFF2-40B4-BE49-F238E27FC236}">
                <a16:creationId xmlns:a16="http://schemas.microsoft.com/office/drawing/2014/main" id="{162484E7-677E-4DA9-BEAC-5327A2E63B29}"/>
              </a:ext>
            </a:extLst>
          </p:cNvPr>
          <p:cNvSpPr>
            <a:spLocks xmlns:a="http://schemas.openxmlformats.org/drawingml/2006/main" noGrp="1"/>
          </p:cNvSpPr>
          <p:nvPr/>
        </p:nvSpPr>
        <p:spPr>
          <a:xfrm xmlns:a="http://schemas.openxmlformats.org/drawingml/2006/main">
            <a:off x="7715250" y="34766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BFAF5"/>
                </a:solidFill>
              </a:defRPr>
            </a:pPr>
            <a:r>
              <a:rPr sz="1425" b="1">
                <a:solidFill>
                  <a:srgbClr val="FBFAF5"/>
                </a:solidFill>
              </a:rPr>
              <a:t>Strongest independent challenger</a:t>
            </a:r>
          </a:p>
        </p:txBody>
      </p:sp>
      <p:sp>
        <p:nvSpPr>
          <p:cNvPr id="14" name="assistant-row-line-1">
            <a:extLst xmlns:a="http://schemas.openxmlformats.org/drawingml/2006/main">
              <a:ext uri="{FF2B5EF4-FFF2-40B4-BE49-F238E27FC236}">
                <a16:creationId xmlns:a16="http://schemas.microsoft.com/office/drawing/2014/main" id="{B2077247-349C-4A13-AB2A-B6F3CD3D35CE}"/>
              </a:ext>
            </a:extLst>
          </p:cNvPr>
          <p:cNvSpPr>
            <a:spLocks xmlns:a="http://schemas.openxmlformats.org/drawingml/2006/main" noGrp="1"/>
          </p:cNvSpPr>
          <p:nvPr/>
        </p:nvSpPr>
        <p:spPr>
          <a:xfrm xmlns:a="http://schemas.openxmlformats.org/drawingml/2006/main">
            <a:off x="1352550" y="4076700"/>
            <a:ext cx="9791700" cy="9525"/>
          </a:xfrm>
          <a:prstGeom xmlns:a="http://schemas.openxmlformats.org/drawingml/2006/main" prst="rect">
            <a:avLst/>
          </a:prstGeom>
          <a:solidFill xmlns:a="http://schemas.openxmlformats.org/drawingml/2006/main">
            <a:srgbClr val="323732"/>
          </a:solidFill>
          <a:ln xmlns:a="http://schemas.openxmlformats.org/drawingml/2006/main" w="0">
            <a:noFill/>
            <a:prstDash val="solid"/>
          </a:ln>
        </p:spPr>
      </p:sp>
      <p:sp>
        <p:nvSpPr>
          <p:cNvPr id="15" name="assistant-dot-2">
            <a:extLst xmlns:a="http://schemas.openxmlformats.org/drawingml/2006/main">
              <a:ext uri="{FF2B5EF4-FFF2-40B4-BE49-F238E27FC236}">
                <a16:creationId xmlns:a16="http://schemas.microsoft.com/office/drawing/2014/main" id="{654DCAFC-B345-453D-9B88-CC90366B7C70}"/>
              </a:ext>
            </a:extLst>
          </p:cNvPr>
          <p:cNvSpPr>
            <a:spLocks xmlns:a="http://schemas.openxmlformats.org/drawingml/2006/main" noGrp="1"/>
          </p:cNvSpPr>
          <p:nvPr/>
        </p:nvSpPr>
        <p:spPr>
          <a:xfrm xmlns:a="http://schemas.openxmlformats.org/drawingml/2006/main">
            <a:off x="685800" y="4400550"/>
            <a:ext cx="400050" cy="400050"/>
          </a:xfrm>
          <a:prstGeom xmlns:a="http://schemas.openxmlformats.org/drawingml/2006/main" prst="roundRect">
            <a:avLst>
              <a:gd name="adj" fmla="val 28571"/>
            </a:avLst>
          </a:prstGeom>
          <a:solidFill xmlns:a="http://schemas.openxmlformats.org/drawingml/2006/main">
            <a:srgbClr val="A9EFD5"/>
          </a:solidFill>
          <a:ln xmlns:a="http://schemas.openxmlformats.org/drawingml/2006/main" w="0">
            <a:noFill/>
            <a:prstDash val="solid"/>
          </a:ln>
        </p:spPr>
      </p:sp>
      <p:sp>
        <p:nvSpPr>
          <p:cNvPr id="16" name="assistant-name-2">
            <a:extLst xmlns:a="http://schemas.openxmlformats.org/drawingml/2006/main">
              <a:ext uri="{FF2B5EF4-FFF2-40B4-BE49-F238E27FC236}">
                <a16:creationId xmlns:a16="http://schemas.microsoft.com/office/drawing/2014/main" id="{B6FB5FE0-C2A9-454C-BB17-7F2DB504D54E}"/>
              </a:ext>
            </a:extLst>
          </p:cNvPr>
          <p:cNvSpPr>
            <a:spLocks xmlns:a="http://schemas.openxmlformats.org/drawingml/2006/main" noGrp="1"/>
          </p:cNvSpPr>
          <p:nvPr/>
        </p:nvSpPr>
        <p:spPr>
          <a:xfrm xmlns:a="http://schemas.openxmlformats.org/drawingml/2006/main">
            <a:off x="1352550" y="43338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BFAF5"/>
                </a:solidFill>
              </a:defRPr>
            </a:pPr>
            <a:r>
              <a:rPr sz="1800" b="1">
                <a:solidFill>
                  <a:srgbClr val="FBFAF5"/>
                </a:solidFill>
              </a:rPr>
              <a:t>OPENCODE</a:t>
            </a:r>
          </a:p>
        </p:txBody>
      </p:sp>
      <p:sp>
        <p:nvSpPr>
          <p:cNvPr id="17" name="assistant-role-2">
            <a:extLst xmlns:a="http://schemas.openxmlformats.org/drawingml/2006/main">
              <a:ext uri="{FF2B5EF4-FFF2-40B4-BE49-F238E27FC236}">
                <a16:creationId xmlns:a16="http://schemas.microsoft.com/office/drawing/2014/main" id="{4FDC9ED9-493B-4183-9A8F-3A7067A23F57}"/>
              </a:ext>
            </a:extLst>
          </p:cNvPr>
          <p:cNvSpPr>
            <a:spLocks xmlns:a="http://schemas.openxmlformats.org/drawingml/2006/main" noGrp="1"/>
          </p:cNvSpPr>
          <p:nvPr/>
        </p:nvSpPr>
        <p:spPr>
          <a:xfrm xmlns:a="http://schemas.openxmlformats.org/drawingml/2006/main">
            <a:off x="4000500" y="43529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989F96"/>
                </a:solidFill>
              </a:defRPr>
            </a:pPr>
            <a:r>
              <a:rPr sz="1350" b="0">
                <a:solidFill>
                  <a:srgbClr val="989F96"/>
                </a:solidFill>
              </a:rPr>
              <a:t>Open-model worker</a:t>
            </a:r>
          </a:p>
        </p:txBody>
      </p:sp>
      <p:sp>
        <p:nvSpPr>
          <p:cNvPr id="18" name="assistant-finding-2">
            <a:extLst xmlns:a="http://schemas.openxmlformats.org/drawingml/2006/main">
              <a:ext uri="{FF2B5EF4-FFF2-40B4-BE49-F238E27FC236}">
                <a16:creationId xmlns:a16="http://schemas.microsoft.com/office/drawing/2014/main" id="{6AC740ED-066D-4F6C-87F2-B3BC3AD5FE4D}"/>
              </a:ext>
            </a:extLst>
          </p:cNvPr>
          <p:cNvSpPr>
            <a:spLocks xmlns:a="http://schemas.openxmlformats.org/drawingml/2006/main" noGrp="1"/>
          </p:cNvSpPr>
          <p:nvPr/>
        </p:nvSpPr>
        <p:spPr>
          <a:xfrm xmlns:a="http://schemas.openxmlformats.org/drawingml/2006/main">
            <a:off x="7715250" y="43434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BFAF5"/>
                </a:solidFill>
              </a:defRPr>
            </a:pPr>
            <a:r>
              <a:rPr sz="1425" b="1">
                <a:solidFill>
                  <a:srgbClr val="FBFAF5"/>
                </a:solidFill>
              </a:rPr>
              <a:t>Worth keeping for bounded routing</a:t>
            </a:r>
          </a:p>
        </p:txBody>
      </p:sp>
      <p:sp>
        <p:nvSpPr>
          <p:cNvPr id="19" name="assistant-row-line-2">
            <a:extLst xmlns:a="http://schemas.openxmlformats.org/drawingml/2006/main">
              <a:ext uri="{FF2B5EF4-FFF2-40B4-BE49-F238E27FC236}">
                <a16:creationId xmlns:a16="http://schemas.microsoft.com/office/drawing/2014/main" id="{68F30299-3C7A-4950-A550-B6CC93960F2E}"/>
              </a:ext>
            </a:extLst>
          </p:cNvPr>
          <p:cNvSpPr>
            <a:spLocks xmlns:a="http://schemas.openxmlformats.org/drawingml/2006/main" noGrp="1"/>
          </p:cNvSpPr>
          <p:nvPr/>
        </p:nvSpPr>
        <p:spPr>
          <a:xfrm xmlns:a="http://schemas.openxmlformats.org/drawingml/2006/main">
            <a:off x="1352550" y="4943475"/>
            <a:ext cx="9791700" cy="9525"/>
          </a:xfrm>
          <a:prstGeom xmlns:a="http://schemas.openxmlformats.org/drawingml/2006/main" prst="rect">
            <a:avLst/>
          </a:prstGeom>
          <a:solidFill xmlns:a="http://schemas.openxmlformats.org/drawingml/2006/main">
            <a:srgbClr val="323732"/>
          </a:solidFill>
          <a:ln xmlns:a="http://schemas.openxmlformats.org/drawingml/2006/main" w="0">
            <a:noFill/>
            <a:prstDash val="solid"/>
          </a:ln>
        </p:spPr>
      </p:sp>
      <p:sp>
        <p:nvSpPr>
          <p:cNvPr id="20" name="assistant-dot-3">
            <a:extLst xmlns:a="http://schemas.openxmlformats.org/drawingml/2006/main">
              <a:ext uri="{FF2B5EF4-FFF2-40B4-BE49-F238E27FC236}">
                <a16:creationId xmlns:a16="http://schemas.microsoft.com/office/drawing/2014/main" id="{1221C1DF-2711-40BA-9BA2-6D075603F3E7}"/>
              </a:ext>
            </a:extLst>
          </p:cNvPr>
          <p:cNvSpPr>
            <a:spLocks xmlns:a="http://schemas.openxmlformats.org/drawingml/2006/main" noGrp="1"/>
          </p:cNvSpPr>
          <p:nvPr/>
        </p:nvSpPr>
        <p:spPr>
          <a:xfrm xmlns:a="http://schemas.openxmlformats.org/drawingml/2006/main">
            <a:off x="685800" y="5267325"/>
            <a:ext cx="400050" cy="400050"/>
          </a:xfrm>
          <a:prstGeom xmlns:a="http://schemas.openxmlformats.org/drawingml/2006/main" prst="roundRect">
            <a:avLst>
              <a:gd name="adj" fmla="val 28571"/>
            </a:avLst>
          </a:prstGeom>
          <a:solidFill xmlns:a="http://schemas.openxmlformats.org/drawingml/2006/main">
            <a:srgbClr val="FFE0DA"/>
          </a:solidFill>
          <a:ln xmlns:a="http://schemas.openxmlformats.org/drawingml/2006/main" w="0">
            <a:noFill/>
            <a:prstDash val="solid"/>
          </a:ln>
        </p:spPr>
      </p:sp>
      <p:sp>
        <p:nvSpPr>
          <p:cNvPr id="21" name="assistant-name-3">
            <a:extLst xmlns:a="http://schemas.openxmlformats.org/drawingml/2006/main">
              <a:ext uri="{FF2B5EF4-FFF2-40B4-BE49-F238E27FC236}">
                <a16:creationId xmlns:a16="http://schemas.microsoft.com/office/drawing/2014/main" id="{1D50710D-EC98-4059-BDF8-B1FA613AEAA5}"/>
              </a:ext>
            </a:extLst>
          </p:cNvPr>
          <p:cNvSpPr>
            <a:spLocks xmlns:a="http://schemas.openxmlformats.org/drawingml/2006/main" noGrp="1"/>
          </p:cNvSpPr>
          <p:nvPr/>
        </p:nvSpPr>
        <p:spPr>
          <a:xfrm xmlns:a="http://schemas.openxmlformats.org/drawingml/2006/main">
            <a:off x="1352550" y="52006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BFAF5"/>
                </a:solidFill>
              </a:defRPr>
            </a:pPr>
            <a:r>
              <a:rPr sz="1800" b="1">
                <a:solidFill>
                  <a:srgbClr val="FBFAF5"/>
                </a:solidFill>
              </a:rPr>
              <a:t>PI</a:t>
            </a:r>
          </a:p>
        </p:txBody>
      </p:sp>
      <p:sp>
        <p:nvSpPr>
          <p:cNvPr id="22" name="assistant-role-3">
            <a:extLst xmlns:a="http://schemas.openxmlformats.org/drawingml/2006/main">
              <a:ext uri="{FF2B5EF4-FFF2-40B4-BE49-F238E27FC236}">
                <a16:creationId xmlns:a16="http://schemas.microsoft.com/office/drawing/2014/main" id="{30189A11-3F09-46C3-B900-76785D0B61AC}"/>
              </a:ext>
            </a:extLst>
          </p:cNvPr>
          <p:cNvSpPr>
            <a:spLocks xmlns:a="http://schemas.openxmlformats.org/drawingml/2006/main" noGrp="1"/>
          </p:cNvSpPr>
          <p:nvPr/>
        </p:nvSpPr>
        <p:spPr>
          <a:xfrm xmlns:a="http://schemas.openxmlformats.org/drawingml/2006/main">
            <a:off x="4000500" y="52197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989F96"/>
                </a:solidFill>
              </a:defRPr>
            </a:pPr>
            <a:r>
              <a:rPr sz="1350" b="0">
                <a:solidFill>
                  <a:srgbClr val="989F96"/>
                </a:solidFill>
              </a:rPr>
              <a:t>Neutral model harness</a:t>
            </a:r>
          </a:p>
        </p:txBody>
      </p:sp>
      <p:sp>
        <p:nvSpPr>
          <p:cNvPr id="23" name="assistant-finding-3">
            <a:extLst xmlns:a="http://schemas.openxmlformats.org/drawingml/2006/main">
              <a:ext uri="{FF2B5EF4-FFF2-40B4-BE49-F238E27FC236}">
                <a16:creationId xmlns:a16="http://schemas.microsoft.com/office/drawing/2014/main" id="{EACF11B7-7976-4ABF-958B-42BC586389DD}"/>
              </a:ext>
            </a:extLst>
          </p:cNvPr>
          <p:cNvSpPr>
            <a:spLocks xmlns:a="http://schemas.openxmlformats.org/drawingml/2006/main" noGrp="1"/>
          </p:cNvSpPr>
          <p:nvPr/>
        </p:nvSpPr>
        <p:spPr>
          <a:xfrm xmlns:a="http://schemas.openxmlformats.org/drawingml/2006/main">
            <a:off x="7715250" y="52101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BFAF5"/>
                </a:solidFill>
              </a:defRPr>
            </a:pPr>
            <a:r>
              <a:rPr sz="1425" b="1">
                <a:solidFill>
                  <a:srgbClr val="FBFAF5"/>
                </a:solidFill>
              </a:rPr>
              <a:t>The laboratory, not the winner</a:t>
            </a:r>
          </a:p>
        </p:txBody>
      </p:sp>
      <p:sp>
        <p:nvSpPr>
          <p:cNvPr id="24" name="assistant-row-line-3">
            <a:extLst xmlns:a="http://schemas.openxmlformats.org/drawingml/2006/main">
              <a:ext uri="{FF2B5EF4-FFF2-40B4-BE49-F238E27FC236}">
                <a16:creationId xmlns:a16="http://schemas.microsoft.com/office/drawing/2014/main" id="{6FE5AC32-0A86-45AB-8D11-DBD429582CB6}"/>
              </a:ext>
            </a:extLst>
          </p:cNvPr>
          <p:cNvSpPr>
            <a:spLocks xmlns:a="http://schemas.openxmlformats.org/drawingml/2006/main" noGrp="1"/>
          </p:cNvSpPr>
          <p:nvPr/>
        </p:nvSpPr>
        <p:spPr>
          <a:xfrm xmlns:a="http://schemas.openxmlformats.org/drawingml/2006/main">
            <a:off x="1352550" y="5810250"/>
            <a:ext cx="9791700" cy="9525"/>
          </a:xfrm>
          <a:prstGeom xmlns:a="http://schemas.openxmlformats.org/drawingml/2006/main" prst="rect">
            <a:avLst/>
          </a:prstGeom>
          <a:solidFill xmlns:a="http://schemas.openxmlformats.org/drawingml/2006/main">
            <a:srgbClr val="323732"/>
          </a:solidFill>
          <a:ln xmlns:a="http://schemas.openxmlformats.org/drawingml/2006/main" w="0">
            <a:noFill/>
            <a:prstDash val="solid"/>
          </a:ln>
        </p:spPr>
      </p:sp>
      <p:sp>
        <p:nvSpPr>
          <p:cNvPr id="25" name="footer-line-3">
            <a:extLst xmlns:a="http://schemas.openxmlformats.org/drawingml/2006/main">
              <a:ext uri="{FF2B5EF4-FFF2-40B4-BE49-F238E27FC236}">
                <a16:creationId xmlns:a16="http://schemas.microsoft.com/office/drawing/2014/main" id="{8C4FCA0B-5B14-4BA9-A3BE-A22147D23C1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B403B"/>
          </a:solidFill>
          <a:ln xmlns:a="http://schemas.openxmlformats.org/drawingml/2006/main" w="0">
            <a:noFill/>
            <a:prstDash val="solid"/>
          </a:ln>
        </p:spPr>
      </p:sp>
      <p:sp>
        <p:nvSpPr>
          <p:cNvPr id="26" name="footer-brand-3">
            <a:extLst xmlns:a="http://schemas.openxmlformats.org/drawingml/2006/main">
              <a:ext uri="{FF2B5EF4-FFF2-40B4-BE49-F238E27FC236}">
                <a16:creationId xmlns:a16="http://schemas.microsoft.com/office/drawing/2014/main" id="{8704AB14-9A0B-4067-84BB-6BAAEF677169}"/>
              </a:ext>
            </a:extLst>
          </p:cNvPr>
          <p:cNvSpPr>
            <a:spLocks xmlns:a="http://schemas.openxmlformats.org/drawingml/2006/main" noGrp="1"/>
          </p:cNvSpPr>
          <p:nvPr/>
        </p:nvSpPr>
        <p:spPr>
          <a:xfrm xmlns:a="http://schemas.openxmlformats.org/drawingml/2006/main">
            <a:off x="609600" y="65532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92988F"/>
                </a:solidFill>
              </a:defRPr>
            </a:pPr>
            <a:r>
              <a:rPr sz="750" b="1">
                <a:solidFill>
                  <a:srgbClr val="92988F"/>
                </a:solidFill>
              </a:rPr>
              <a:t>CODING INTELLIGENCE FIELD STUDY</a:t>
            </a:r>
          </a:p>
        </p:txBody>
      </p:sp>
      <p:sp>
        <p:nvSpPr>
          <p:cNvPr id="27" name="footer-number-3">
            <a:extLst xmlns:a="http://schemas.openxmlformats.org/drawingml/2006/main">
              <a:ext uri="{FF2B5EF4-FFF2-40B4-BE49-F238E27FC236}">
                <a16:creationId xmlns:a16="http://schemas.microsoft.com/office/drawing/2014/main" id="{A835E858-7229-49E4-9EA3-6AFADFF2CEC9}"/>
              </a:ext>
            </a:extLst>
          </p:cNvPr>
          <p:cNvSpPr>
            <a:spLocks xmlns:a="http://schemas.openxmlformats.org/drawingml/2006/main" noGrp="1"/>
          </p:cNvSpPr>
          <p:nvPr/>
        </p:nvSpPr>
        <p:spPr>
          <a:xfrm xmlns:a="http://schemas.openxmlformats.org/drawingml/2006/main">
            <a:off x="11125200" y="65532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FBFAF5"/>
                </a:solidFill>
              </a:defRPr>
            </a:pPr>
            <a:r>
              <a:rPr sz="750" b="1">
                <a:solidFill>
                  <a:srgbClr val="FBFAF5"/>
                </a:solidFill>
              </a:rPr>
              <a:t>03</a:t>
            </a:r>
          </a:p>
        </p:txBody>
      </p:sp>
    </p:spTree>
    <p:extLst>
      <p:ext uri="{BB962C8B-B14F-4D97-AF65-F5344CB8AC3E}">
        <p14:creationId xmlns:p14="http://schemas.microsoft.com/office/powerpoint/2010/main" val="1155970425"/>
      </p:ext>
    </p:extLst>
  </p:cSld>
</p:sld>
</file>

<file path=ppt/slides/slide4.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28" name="eyebrow-03 / Products under pressure">
            <a:extLst xmlns:a="http://schemas.openxmlformats.org/drawingml/2006/main">
              <a:ext uri="{FF2B5EF4-FFF2-40B4-BE49-F238E27FC236}">
                <a16:creationId xmlns:a16="http://schemas.microsoft.com/office/drawing/2014/main" id="{7CBAF499-8A5F-4EDC-AD38-3D6858E74A31}"/>
              </a:ext>
            </a:extLst>
          </p:cNvPr>
          <p:cNvSpPr>
            <a:spLocks xmlns:a="http://schemas.openxmlformats.org/drawingml/2006/main" noGrp="1"/>
          </p:cNvSpPr>
          <p:nvPr/>
        </p:nvSpPr>
        <p:spPr>
          <a:xfrm xmlns:a="http://schemas.openxmlformats.org/drawingml/2006/main">
            <a:off x="609600" y="438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15CFF"/>
                </a:solidFill>
              </a:defRPr>
            </a:pPr>
            <a:r>
              <a:rPr sz="975" b="1">
                <a:solidFill>
                  <a:srgbClr val="315CFF"/>
                </a:solidFill>
              </a:rPr>
              <a:t>03 / PRODUCTS UNDER PRESSURE</a:t>
            </a:r>
          </a:p>
        </p:txBody>
      </p:sp>
      <p:sp>
        <p:nvSpPr>
          <p:cNvPr id="2" name="title-The strongest products succeeded in different ways.">
            <a:extLst xmlns:a="http://schemas.openxmlformats.org/drawingml/2006/main">
              <a:ext uri="{FF2B5EF4-FFF2-40B4-BE49-F238E27FC236}">
                <a16:creationId xmlns:a16="http://schemas.microsoft.com/office/drawing/2014/main" id="{58A53A13-3EB1-4C4C-BC40-2105E1E9E3DD}"/>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111411"/>
                </a:solidFill>
              </a:defRPr>
            </a:pPr>
            <a:r>
              <a:rPr sz="3300" b="1">
                <a:solidFill>
                  <a:srgbClr val="111411"/>
                </a:solidFill>
              </a:rPr>
              <a:t>The strongest products succeeded in different ways.</a:t>
            </a:r>
          </a:p>
        </p:txBody>
      </p:sp>
      <p:sp>
        <p:nvSpPr>
          <p:cNvPr id="3" name="phase1-subtitle">
            <a:extLst xmlns:a="http://schemas.openxmlformats.org/drawingml/2006/main">
              <a:ext uri="{FF2B5EF4-FFF2-40B4-BE49-F238E27FC236}">
                <a16:creationId xmlns:a16="http://schemas.microsoft.com/office/drawing/2014/main" id="{9ACAE5BC-756B-47B1-928C-048D9D7CC88D}"/>
              </a:ext>
            </a:extLst>
          </p:cNvPr>
          <p:cNvSpPr>
            <a:spLocks xmlns:a="http://schemas.openxmlformats.org/drawingml/2006/main" noGrp="1"/>
          </p:cNvSpPr>
          <p:nvPr/>
        </p:nvSpPr>
        <p:spPr>
          <a:xfrm xmlns:a="http://schemas.openxmlformats.org/drawingml/2006/main">
            <a:off x="609600" y="1676400"/>
            <a:ext cx="9334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86C65"/>
                </a:solidFill>
              </a:defRPr>
            </a:pPr>
            <a:r>
              <a:rPr sz="1500" b="0">
                <a:solidFill>
                  <a:srgbClr val="686C65"/>
                </a:solidFill>
              </a:rPr>
              <a:t>A frontier incident and a fixed-model harness exposed speed, review breadth, and product friction.</a:t>
            </a:r>
          </a:p>
        </p:txBody>
      </p:sp>
      <p:sp>
        <p:nvSpPr>
          <p:cNvPr id="4" name="phase1-card-0">
            <a:extLst xmlns:a="http://schemas.openxmlformats.org/drawingml/2006/main">
              <a:ext uri="{FF2B5EF4-FFF2-40B4-BE49-F238E27FC236}">
                <a16:creationId xmlns:a16="http://schemas.microsoft.com/office/drawing/2014/main" id="{CFACD275-2E3D-434D-BDB8-D0FF18272928}"/>
              </a:ext>
            </a:extLst>
          </p:cNvPr>
          <p:cNvSpPr>
            <a:spLocks xmlns:a="http://schemas.openxmlformats.org/drawingml/2006/main" noGrp="1"/>
          </p:cNvSpPr>
          <p:nvPr/>
        </p:nvSpPr>
        <p:spPr>
          <a:xfrm xmlns:a="http://schemas.openxmlformats.org/drawingml/2006/main">
            <a:off x="609600" y="2476500"/>
            <a:ext cx="3429000" cy="2619375"/>
          </a:xfrm>
          <a:prstGeom xmlns:a="http://schemas.openxmlformats.org/drawingml/2006/main" prst="roundRect">
            <a:avLst>
              <a:gd name="adj" fmla="val 4364"/>
            </a:avLst>
          </a:prstGeom>
          <a:solidFill xmlns:a="http://schemas.openxmlformats.org/drawingml/2006/main">
            <a:srgbClr val="FBFAF5"/>
          </a:solidFill>
          <a:ln xmlns:a="http://schemas.openxmlformats.org/drawingml/2006/main" w="9525">
            <a:solidFill>
              <a:srgbClr val="D4D0C5"/>
            </a:solidFill>
            <a:prstDash val="solid"/>
          </a:ln>
        </p:spPr>
      </p:sp>
      <p:sp>
        <p:nvSpPr>
          <p:cNvPr id="5" name="phase1-accent-0">
            <a:extLst xmlns:a="http://schemas.openxmlformats.org/drawingml/2006/main">
              <a:ext uri="{FF2B5EF4-FFF2-40B4-BE49-F238E27FC236}">
                <a16:creationId xmlns:a16="http://schemas.microsoft.com/office/drawing/2014/main" id="{D0494DA6-66ED-43A7-9CA9-7E41896B4270}"/>
              </a:ext>
            </a:extLst>
          </p:cNvPr>
          <p:cNvSpPr>
            <a:spLocks xmlns:a="http://schemas.openxmlformats.org/drawingml/2006/main" noGrp="1"/>
          </p:cNvSpPr>
          <p:nvPr/>
        </p:nvSpPr>
        <p:spPr>
          <a:xfrm xmlns:a="http://schemas.openxmlformats.org/drawingml/2006/main">
            <a:off x="609600" y="2476500"/>
            <a:ext cx="3429000" cy="95250"/>
          </a:xfrm>
          <a:prstGeom xmlns:a="http://schemas.openxmlformats.org/drawingml/2006/main" prst="rect">
            <a:avLst/>
          </a:prstGeom>
          <a:solidFill xmlns:a="http://schemas.openxmlformats.org/drawingml/2006/main">
            <a:srgbClr val="315CFF"/>
          </a:solidFill>
          <a:ln xmlns:a="http://schemas.openxmlformats.org/drawingml/2006/main" w="0">
            <a:noFill/>
            <a:prstDash val="solid"/>
          </a:ln>
        </p:spPr>
      </p:sp>
      <p:sp>
        <p:nvSpPr>
          <p:cNvPr id="6" name="phase1-name-0">
            <a:extLst xmlns:a="http://schemas.openxmlformats.org/drawingml/2006/main">
              <a:ext uri="{FF2B5EF4-FFF2-40B4-BE49-F238E27FC236}">
                <a16:creationId xmlns:a16="http://schemas.microsoft.com/office/drawing/2014/main" id="{E5F220F1-E385-48DF-9ADC-63E4C1DFFE3D}"/>
              </a:ext>
            </a:extLst>
          </p:cNvPr>
          <p:cNvSpPr>
            <a:spLocks xmlns:a="http://schemas.openxmlformats.org/drawingml/2006/main" noGrp="1"/>
          </p:cNvSpPr>
          <p:nvPr/>
        </p:nvSpPr>
        <p:spPr>
          <a:xfrm xmlns:a="http://schemas.openxmlformats.org/drawingml/2006/main">
            <a:off x="876300" y="2828925"/>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15CFF"/>
                </a:solidFill>
              </a:defRPr>
            </a:pPr>
            <a:r>
              <a:rPr sz="975" b="1">
                <a:solidFill>
                  <a:srgbClr val="315CFF"/>
                </a:solidFill>
              </a:rPr>
              <a:t>CODEX + SOL</a:t>
            </a:r>
          </a:p>
        </p:txBody>
      </p:sp>
      <p:sp>
        <p:nvSpPr>
          <p:cNvPr id="7" name="phase1-score-0">
            <a:extLst xmlns:a="http://schemas.openxmlformats.org/drawingml/2006/main">
              <a:ext uri="{FF2B5EF4-FFF2-40B4-BE49-F238E27FC236}">
                <a16:creationId xmlns:a16="http://schemas.microsoft.com/office/drawing/2014/main" id="{13246C78-CD9E-4E8D-A868-AF028BF0DAC2}"/>
              </a:ext>
            </a:extLst>
          </p:cNvPr>
          <p:cNvSpPr>
            <a:spLocks xmlns:a="http://schemas.openxmlformats.org/drawingml/2006/main" noGrp="1"/>
          </p:cNvSpPr>
          <p:nvPr/>
        </p:nvSpPr>
        <p:spPr>
          <a:xfrm xmlns:a="http://schemas.openxmlformats.org/drawingml/2006/main">
            <a:off x="876300" y="3257550"/>
            <a:ext cx="133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111411"/>
                </a:solidFill>
              </a:defRPr>
            </a:pPr>
            <a:r>
              <a:rPr sz="4650" b="1">
                <a:solidFill>
                  <a:srgbClr val="111411"/>
                </a:solidFill>
              </a:rPr>
              <a:t>99</a:t>
            </a:r>
          </a:p>
        </p:txBody>
      </p:sp>
      <p:sp>
        <p:nvSpPr>
          <p:cNvPr id="8" name="phase1-seconds-0">
            <a:extLst xmlns:a="http://schemas.openxmlformats.org/drawingml/2006/main">
              <a:ext uri="{FF2B5EF4-FFF2-40B4-BE49-F238E27FC236}">
                <a16:creationId xmlns:a16="http://schemas.microsoft.com/office/drawing/2014/main" id="{C5D5B86F-023B-40ED-A88C-3B4920869E49}"/>
              </a:ext>
            </a:extLst>
          </p:cNvPr>
          <p:cNvSpPr>
            <a:spLocks xmlns:a="http://schemas.openxmlformats.org/drawingml/2006/main" noGrp="1"/>
          </p:cNvSpPr>
          <p:nvPr/>
        </p:nvSpPr>
        <p:spPr>
          <a:xfrm xmlns:a="http://schemas.openxmlformats.org/drawingml/2006/main">
            <a:off x="2362200" y="35623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411"/>
                </a:solidFill>
              </a:defRPr>
            </a:pPr>
            <a:r>
              <a:rPr sz="1350" b="1">
                <a:solidFill>
                  <a:srgbClr val="111411"/>
                </a:solidFill>
              </a:rPr>
              <a:t>129.209 s</a:t>
            </a:r>
          </a:p>
        </p:txBody>
      </p:sp>
      <p:sp>
        <p:nvSpPr>
          <p:cNvPr id="9" name="phase1-finding-0">
            <a:extLst xmlns:a="http://schemas.openxmlformats.org/drawingml/2006/main">
              <a:ext uri="{FF2B5EF4-FFF2-40B4-BE49-F238E27FC236}">
                <a16:creationId xmlns:a16="http://schemas.microsoft.com/office/drawing/2014/main" id="{AEEE0432-668F-490C-B596-BC802D1A6A49}"/>
              </a:ext>
            </a:extLst>
          </p:cNvPr>
          <p:cNvSpPr>
            <a:spLocks xmlns:a="http://schemas.openxmlformats.org/drawingml/2006/main" noGrp="1"/>
          </p:cNvSpPr>
          <p:nvPr/>
        </p:nvSpPr>
        <p:spPr>
          <a:xfrm xmlns:a="http://schemas.openxmlformats.org/drawingml/2006/main">
            <a:off x="876300" y="4295775"/>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86C65"/>
                </a:solidFill>
              </a:defRPr>
            </a:pPr>
            <a:r>
              <a:rPr sz="1350" b="0">
                <a:solidFill>
                  <a:srgbClr val="686C65"/>
                </a:solidFill>
              </a:rPr>
              <a:t>Fastest accepted frontier repair</a:t>
            </a:r>
          </a:p>
        </p:txBody>
      </p:sp>
      <p:sp>
        <p:nvSpPr>
          <p:cNvPr id="10" name="phase1-card-1">
            <a:extLst xmlns:a="http://schemas.openxmlformats.org/drawingml/2006/main">
              <a:ext uri="{FF2B5EF4-FFF2-40B4-BE49-F238E27FC236}">
                <a16:creationId xmlns:a16="http://schemas.microsoft.com/office/drawing/2014/main" id="{874CB800-B3E1-4DF9-AEFA-7A883B03D26A}"/>
              </a:ext>
            </a:extLst>
          </p:cNvPr>
          <p:cNvSpPr>
            <a:spLocks xmlns:a="http://schemas.openxmlformats.org/drawingml/2006/main" noGrp="1"/>
          </p:cNvSpPr>
          <p:nvPr/>
        </p:nvSpPr>
        <p:spPr>
          <a:xfrm xmlns:a="http://schemas.openxmlformats.org/drawingml/2006/main">
            <a:off x="4362450" y="2476500"/>
            <a:ext cx="3429000" cy="2619375"/>
          </a:xfrm>
          <a:prstGeom xmlns:a="http://schemas.openxmlformats.org/drawingml/2006/main" prst="roundRect">
            <a:avLst>
              <a:gd name="adj" fmla="val 4364"/>
            </a:avLst>
          </a:prstGeom>
          <a:solidFill xmlns:a="http://schemas.openxmlformats.org/drawingml/2006/main">
            <a:srgbClr val="FBFAF5"/>
          </a:solidFill>
          <a:ln xmlns:a="http://schemas.openxmlformats.org/drawingml/2006/main" w="9525">
            <a:solidFill>
              <a:srgbClr val="D4D0C5"/>
            </a:solidFill>
            <a:prstDash val="solid"/>
          </a:ln>
        </p:spPr>
      </p:sp>
      <p:sp>
        <p:nvSpPr>
          <p:cNvPr id="11" name="phase1-accent-1">
            <a:extLst xmlns:a="http://schemas.openxmlformats.org/drawingml/2006/main">
              <a:ext uri="{FF2B5EF4-FFF2-40B4-BE49-F238E27FC236}">
                <a16:creationId xmlns:a16="http://schemas.microsoft.com/office/drawing/2014/main" id="{D5DB4AE4-3A5C-42BF-A90C-EFB58045F17E}"/>
              </a:ext>
            </a:extLst>
          </p:cNvPr>
          <p:cNvSpPr>
            <a:spLocks xmlns:a="http://schemas.openxmlformats.org/drawingml/2006/main" noGrp="1"/>
          </p:cNvSpPr>
          <p:nvPr/>
        </p:nvSpPr>
        <p:spPr>
          <a:xfrm xmlns:a="http://schemas.openxmlformats.org/drawingml/2006/main">
            <a:off x="4362450" y="2476500"/>
            <a:ext cx="3429000" cy="95250"/>
          </a:xfrm>
          <a:prstGeom xmlns:a="http://schemas.openxmlformats.org/drawingml/2006/main" prst="rect">
            <a:avLst/>
          </a:prstGeom>
          <a:solidFill xmlns:a="http://schemas.openxmlformats.org/drawingml/2006/main">
            <a:srgbClr val="FF5D47"/>
          </a:solidFill>
          <a:ln xmlns:a="http://schemas.openxmlformats.org/drawingml/2006/main" w="0">
            <a:noFill/>
            <a:prstDash val="solid"/>
          </a:ln>
        </p:spPr>
      </p:sp>
      <p:sp>
        <p:nvSpPr>
          <p:cNvPr id="12" name="phase1-name-1">
            <a:extLst xmlns:a="http://schemas.openxmlformats.org/drawingml/2006/main">
              <a:ext uri="{FF2B5EF4-FFF2-40B4-BE49-F238E27FC236}">
                <a16:creationId xmlns:a16="http://schemas.microsoft.com/office/drawing/2014/main" id="{862935A4-B899-4D32-817E-4A24FEF4B2EB}"/>
              </a:ext>
            </a:extLst>
          </p:cNvPr>
          <p:cNvSpPr>
            <a:spLocks xmlns:a="http://schemas.openxmlformats.org/drawingml/2006/main" noGrp="1"/>
          </p:cNvSpPr>
          <p:nvPr/>
        </p:nvSpPr>
        <p:spPr>
          <a:xfrm xmlns:a="http://schemas.openxmlformats.org/drawingml/2006/main">
            <a:off x="4629150" y="2828925"/>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5D47"/>
                </a:solidFill>
              </a:defRPr>
            </a:pPr>
            <a:r>
              <a:rPr sz="975" b="1">
                <a:solidFill>
                  <a:srgbClr val="FF5D47"/>
                </a:solidFill>
              </a:rPr>
              <a:t>CLAUDE + OPUS</a:t>
            </a:r>
          </a:p>
        </p:txBody>
      </p:sp>
      <p:sp>
        <p:nvSpPr>
          <p:cNvPr id="13" name="phase1-score-1">
            <a:extLst xmlns:a="http://schemas.openxmlformats.org/drawingml/2006/main">
              <a:ext uri="{FF2B5EF4-FFF2-40B4-BE49-F238E27FC236}">
                <a16:creationId xmlns:a16="http://schemas.microsoft.com/office/drawing/2014/main" id="{8AA9849C-0FBE-4EDE-ACEF-9940DAEDBA90}"/>
              </a:ext>
            </a:extLst>
          </p:cNvPr>
          <p:cNvSpPr>
            <a:spLocks xmlns:a="http://schemas.openxmlformats.org/drawingml/2006/main" noGrp="1"/>
          </p:cNvSpPr>
          <p:nvPr/>
        </p:nvSpPr>
        <p:spPr>
          <a:xfrm xmlns:a="http://schemas.openxmlformats.org/drawingml/2006/main">
            <a:off x="4629150" y="3257550"/>
            <a:ext cx="133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111411"/>
                </a:solidFill>
              </a:defRPr>
            </a:pPr>
            <a:r>
              <a:rPr sz="4650" b="1">
                <a:solidFill>
                  <a:srgbClr val="111411"/>
                </a:solidFill>
              </a:rPr>
              <a:t>97</a:t>
            </a:r>
          </a:p>
        </p:txBody>
      </p:sp>
      <p:sp>
        <p:nvSpPr>
          <p:cNvPr id="14" name="phase1-seconds-1">
            <a:extLst xmlns:a="http://schemas.openxmlformats.org/drawingml/2006/main">
              <a:ext uri="{FF2B5EF4-FFF2-40B4-BE49-F238E27FC236}">
                <a16:creationId xmlns:a16="http://schemas.microsoft.com/office/drawing/2014/main" id="{1B961E1F-8374-4B94-8ABC-524FF5DFF06D}"/>
              </a:ext>
            </a:extLst>
          </p:cNvPr>
          <p:cNvSpPr>
            <a:spLocks xmlns:a="http://schemas.openxmlformats.org/drawingml/2006/main" noGrp="1"/>
          </p:cNvSpPr>
          <p:nvPr/>
        </p:nvSpPr>
        <p:spPr>
          <a:xfrm xmlns:a="http://schemas.openxmlformats.org/drawingml/2006/main">
            <a:off x="6115050" y="35623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411"/>
                </a:solidFill>
              </a:defRPr>
            </a:pPr>
            <a:r>
              <a:rPr sz="1350" b="1">
                <a:solidFill>
                  <a:srgbClr val="111411"/>
                </a:solidFill>
              </a:rPr>
              <a:t>228.453 s</a:t>
            </a:r>
          </a:p>
        </p:txBody>
      </p:sp>
      <p:sp>
        <p:nvSpPr>
          <p:cNvPr id="15" name="phase1-finding-1">
            <a:extLst xmlns:a="http://schemas.openxmlformats.org/drawingml/2006/main">
              <a:ext uri="{FF2B5EF4-FFF2-40B4-BE49-F238E27FC236}">
                <a16:creationId xmlns:a16="http://schemas.microsoft.com/office/drawing/2014/main" id="{76784D5D-9617-46A9-A5B0-4E5E1830A8C3}"/>
              </a:ext>
            </a:extLst>
          </p:cNvPr>
          <p:cNvSpPr>
            <a:spLocks xmlns:a="http://schemas.openxmlformats.org/drawingml/2006/main" noGrp="1"/>
          </p:cNvSpPr>
          <p:nvPr/>
        </p:nvSpPr>
        <p:spPr>
          <a:xfrm xmlns:a="http://schemas.openxmlformats.org/drawingml/2006/main">
            <a:off x="4629150" y="4295775"/>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86C65"/>
                </a:solidFill>
              </a:defRPr>
            </a:pPr>
            <a:r>
              <a:rPr sz="1350" b="0">
                <a:solidFill>
                  <a:srgbClr val="686C65"/>
                </a:solidFill>
              </a:rPr>
              <a:t>Broader independent review</a:t>
            </a:r>
          </a:p>
        </p:txBody>
      </p:sp>
      <p:sp>
        <p:nvSpPr>
          <p:cNvPr id="16" name="phase1-card-2">
            <a:extLst xmlns:a="http://schemas.openxmlformats.org/drawingml/2006/main">
              <a:ext uri="{FF2B5EF4-FFF2-40B4-BE49-F238E27FC236}">
                <a16:creationId xmlns:a16="http://schemas.microsoft.com/office/drawing/2014/main" id="{93AAF473-5F24-4601-B589-73AE06370879}"/>
              </a:ext>
            </a:extLst>
          </p:cNvPr>
          <p:cNvSpPr>
            <a:spLocks xmlns:a="http://schemas.openxmlformats.org/drawingml/2006/main" noGrp="1"/>
          </p:cNvSpPr>
          <p:nvPr/>
        </p:nvSpPr>
        <p:spPr>
          <a:xfrm xmlns:a="http://schemas.openxmlformats.org/drawingml/2006/main">
            <a:off x="8115300" y="2476500"/>
            <a:ext cx="3429000" cy="2619375"/>
          </a:xfrm>
          <a:prstGeom xmlns:a="http://schemas.openxmlformats.org/drawingml/2006/main" prst="roundRect">
            <a:avLst>
              <a:gd name="adj" fmla="val 4364"/>
            </a:avLst>
          </a:prstGeom>
          <a:solidFill xmlns:a="http://schemas.openxmlformats.org/drawingml/2006/main">
            <a:srgbClr val="FBFAF5"/>
          </a:solidFill>
          <a:ln xmlns:a="http://schemas.openxmlformats.org/drawingml/2006/main" w="9525">
            <a:solidFill>
              <a:srgbClr val="D4D0C5"/>
            </a:solidFill>
            <a:prstDash val="solid"/>
          </a:ln>
        </p:spPr>
      </p:sp>
      <p:sp>
        <p:nvSpPr>
          <p:cNvPr id="17" name="phase1-accent-2">
            <a:extLst xmlns:a="http://schemas.openxmlformats.org/drawingml/2006/main">
              <a:ext uri="{FF2B5EF4-FFF2-40B4-BE49-F238E27FC236}">
                <a16:creationId xmlns:a16="http://schemas.microsoft.com/office/drawing/2014/main" id="{26354FA1-44B1-45BB-AA3F-61CC7B829E8B}"/>
              </a:ext>
            </a:extLst>
          </p:cNvPr>
          <p:cNvSpPr>
            <a:spLocks xmlns:a="http://schemas.openxmlformats.org/drawingml/2006/main" noGrp="1"/>
          </p:cNvSpPr>
          <p:nvPr/>
        </p:nvSpPr>
        <p:spPr>
          <a:xfrm xmlns:a="http://schemas.openxmlformats.org/drawingml/2006/main">
            <a:off x="8115300" y="2476500"/>
            <a:ext cx="3429000" cy="95250"/>
          </a:xfrm>
          <a:prstGeom xmlns:a="http://schemas.openxmlformats.org/drawingml/2006/main" prst="rect">
            <a:avLst/>
          </a:prstGeom>
          <a:solidFill xmlns:a="http://schemas.openxmlformats.org/drawingml/2006/main">
            <a:srgbClr val="111411"/>
          </a:solidFill>
          <a:ln xmlns:a="http://schemas.openxmlformats.org/drawingml/2006/main" w="0">
            <a:noFill/>
            <a:prstDash val="solid"/>
          </a:ln>
        </p:spPr>
      </p:sp>
      <p:sp>
        <p:nvSpPr>
          <p:cNvPr id="18" name="phase1-name-2">
            <a:extLst xmlns:a="http://schemas.openxmlformats.org/drawingml/2006/main">
              <a:ext uri="{FF2B5EF4-FFF2-40B4-BE49-F238E27FC236}">
                <a16:creationId xmlns:a16="http://schemas.microsoft.com/office/drawing/2014/main" id="{C9DECBD2-537E-4DD2-B070-A8194ADF331C}"/>
              </a:ext>
            </a:extLst>
          </p:cNvPr>
          <p:cNvSpPr>
            <a:spLocks xmlns:a="http://schemas.openxmlformats.org/drawingml/2006/main" noGrp="1"/>
          </p:cNvSpPr>
          <p:nvPr/>
        </p:nvSpPr>
        <p:spPr>
          <a:xfrm xmlns:a="http://schemas.openxmlformats.org/drawingml/2006/main">
            <a:off x="8382000" y="2828925"/>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11411"/>
                </a:solidFill>
              </a:defRPr>
            </a:pPr>
            <a:r>
              <a:rPr sz="975" b="1">
                <a:solidFill>
                  <a:srgbClr val="111411"/>
                </a:solidFill>
              </a:rPr>
              <a:t>OPENCODE + KIMI K2.7</a:t>
            </a:r>
          </a:p>
        </p:txBody>
      </p:sp>
      <p:sp>
        <p:nvSpPr>
          <p:cNvPr id="19" name="phase1-score-2">
            <a:extLst xmlns:a="http://schemas.openxmlformats.org/drawingml/2006/main">
              <a:ext uri="{FF2B5EF4-FFF2-40B4-BE49-F238E27FC236}">
                <a16:creationId xmlns:a16="http://schemas.microsoft.com/office/drawing/2014/main" id="{25FCE84A-7F7B-4FB8-A4E4-482C85692031}"/>
              </a:ext>
            </a:extLst>
          </p:cNvPr>
          <p:cNvSpPr>
            <a:spLocks xmlns:a="http://schemas.openxmlformats.org/drawingml/2006/main" noGrp="1"/>
          </p:cNvSpPr>
          <p:nvPr/>
        </p:nvSpPr>
        <p:spPr>
          <a:xfrm xmlns:a="http://schemas.openxmlformats.org/drawingml/2006/main">
            <a:off x="8382000" y="3257550"/>
            <a:ext cx="133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111411"/>
                </a:solidFill>
              </a:defRPr>
            </a:pPr>
            <a:r>
              <a:rPr sz="4650" b="1">
                <a:solidFill>
                  <a:srgbClr val="111411"/>
                </a:solidFill>
              </a:rPr>
              <a:t>99</a:t>
            </a:r>
          </a:p>
        </p:txBody>
      </p:sp>
      <p:sp>
        <p:nvSpPr>
          <p:cNvPr id="20" name="phase1-seconds-2">
            <a:extLst xmlns:a="http://schemas.openxmlformats.org/drawingml/2006/main">
              <a:ext uri="{FF2B5EF4-FFF2-40B4-BE49-F238E27FC236}">
                <a16:creationId xmlns:a16="http://schemas.microsoft.com/office/drawing/2014/main" id="{2999409E-F60F-4083-8D01-DE693C3CB4B5}"/>
              </a:ext>
            </a:extLst>
          </p:cNvPr>
          <p:cNvSpPr>
            <a:spLocks xmlns:a="http://schemas.openxmlformats.org/drawingml/2006/main" noGrp="1"/>
          </p:cNvSpPr>
          <p:nvPr/>
        </p:nvSpPr>
        <p:spPr>
          <a:xfrm xmlns:a="http://schemas.openxmlformats.org/drawingml/2006/main">
            <a:off x="9867900" y="35623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411"/>
                </a:solidFill>
              </a:defRPr>
            </a:pPr>
            <a:r>
              <a:rPr sz="1350" b="1">
                <a:solidFill>
                  <a:srgbClr val="111411"/>
                </a:solidFill>
              </a:rPr>
              <a:t>55.115 s</a:t>
            </a:r>
          </a:p>
        </p:txBody>
      </p:sp>
      <p:sp>
        <p:nvSpPr>
          <p:cNvPr id="21" name="phase1-finding-2">
            <a:extLst xmlns:a="http://schemas.openxmlformats.org/drawingml/2006/main">
              <a:ext uri="{FF2B5EF4-FFF2-40B4-BE49-F238E27FC236}">
                <a16:creationId xmlns:a16="http://schemas.microsoft.com/office/drawing/2014/main" id="{0444089A-880B-459B-8767-F0ADD71A3A30}"/>
              </a:ext>
            </a:extLst>
          </p:cNvPr>
          <p:cNvSpPr>
            <a:spLocks xmlns:a="http://schemas.openxmlformats.org/drawingml/2006/main" noGrp="1"/>
          </p:cNvSpPr>
          <p:nvPr/>
        </p:nvSpPr>
        <p:spPr>
          <a:xfrm xmlns:a="http://schemas.openxmlformats.org/drawingml/2006/main">
            <a:off x="8382000" y="4295775"/>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86C65"/>
                </a:solidFill>
              </a:defRPr>
            </a:pPr>
            <a:r>
              <a:rPr sz="1350" b="0">
                <a:solidFill>
                  <a:srgbClr val="686C65"/>
                </a:solidFill>
              </a:rPr>
              <a:t>Fastest fixed-model harness result</a:t>
            </a:r>
          </a:p>
        </p:txBody>
      </p:sp>
      <p:sp>
        <p:nvSpPr>
          <p:cNvPr id="22" name="phase1-takeaway">
            <a:extLst xmlns:a="http://schemas.openxmlformats.org/drawingml/2006/main">
              <a:ext uri="{FF2B5EF4-FFF2-40B4-BE49-F238E27FC236}">
                <a16:creationId xmlns:a16="http://schemas.microsoft.com/office/drawing/2014/main" id="{4B390100-CE44-410F-9834-CB79276C0181}"/>
              </a:ext>
            </a:extLst>
          </p:cNvPr>
          <p:cNvSpPr>
            <a:spLocks xmlns:a="http://schemas.openxmlformats.org/drawingml/2006/main" noGrp="1"/>
          </p:cNvSpPr>
          <p:nvPr/>
        </p:nvSpPr>
        <p:spPr>
          <a:xfrm xmlns:a="http://schemas.openxmlformats.org/drawingml/2006/main">
            <a:off x="609600" y="5381625"/>
            <a:ext cx="10972800" cy="704850"/>
          </a:xfrm>
          <a:prstGeom xmlns:a="http://schemas.openxmlformats.org/drawingml/2006/main" prst="roundRect">
            <a:avLst>
              <a:gd name="adj" fmla="val 16216"/>
            </a:avLst>
          </a:prstGeom>
          <a:solidFill xmlns:a="http://schemas.openxmlformats.org/drawingml/2006/main">
            <a:srgbClr val="EFFFCA"/>
          </a:solidFill>
          <a:ln xmlns:a="http://schemas.openxmlformats.org/drawingml/2006/main" w="0">
            <a:noFill/>
            <a:prstDash val="solid"/>
          </a:ln>
        </p:spPr>
      </p:sp>
      <p:sp>
        <p:nvSpPr>
          <p:cNvPr id="23" name="phase1-takeaway-label">
            <a:extLst xmlns:a="http://schemas.openxmlformats.org/drawingml/2006/main">
              <a:ext uri="{FF2B5EF4-FFF2-40B4-BE49-F238E27FC236}">
                <a16:creationId xmlns:a16="http://schemas.microsoft.com/office/drawing/2014/main" id="{25AFDFBD-B7E2-43C3-8159-40B0A85E88E0}"/>
              </a:ext>
            </a:extLst>
          </p:cNvPr>
          <p:cNvSpPr>
            <a:spLocks xmlns:a="http://schemas.openxmlformats.org/drawingml/2006/main" noGrp="1"/>
          </p:cNvSpPr>
          <p:nvPr/>
        </p:nvSpPr>
        <p:spPr>
          <a:xfrm xmlns:a="http://schemas.openxmlformats.org/drawingml/2006/main">
            <a:off x="838200" y="56102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15CFF"/>
                </a:solidFill>
              </a:defRPr>
            </a:pPr>
            <a:r>
              <a:rPr sz="900" b="1">
                <a:solidFill>
                  <a:srgbClr val="315CFF"/>
                </a:solidFill>
              </a:rPr>
              <a:t>WHAT CHANGED</a:t>
            </a:r>
          </a:p>
        </p:txBody>
      </p:sp>
      <p:sp>
        <p:nvSpPr>
          <p:cNvPr id="24" name="phase1-takeaway-text">
            <a:extLst xmlns:a="http://schemas.openxmlformats.org/drawingml/2006/main">
              <a:ext uri="{FF2B5EF4-FFF2-40B4-BE49-F238E27FC236}">
                <a16:creationId xmlns:a16="http://schemas.microsoft.com/office/drawing/2014/main" id="{311AC2D0-2C80-4D1E-851A-B23E01464402}"/>
              </a:ext>
            </a:extLst>
          </p:cNvPr>
          <p:cNvSpPr>
            <a:spLocks xmlns:a="http://schemas.openxmlformats.org/drawingml/2006/main" noGrp="1"/>
          </p:cNvSpPr>
          <p:nvPr/>
        </p:nvSpPr>
        <p:spPr>
          <a:xfrm xmlns:a="http://schemas.openxmlformats.org/drawingml/2006/main">
            <a:off x="2571750" y="55245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411"/>
                </a:solidFill>
              </a:defRPr>
            </a:pPr>
            <a:r>
              <a:rPr sz="1500" b="1">
                <a:solidFill>
                  <a:srgbClr val="111411"/>
                </a:solidFill>
              </a:rPr>
              <a:t>Codex emerged as the default integrator; Claude as the independent review lane; OpenCode as the flexible worker harness.</a:t>
            </a:r>
          </a:p>
        </p:txBody>
      </p:sp>
      <p:sp>
        <p:nvSpPr>
          <p:cNvPr id="25" name="footer-line-4">
            <a:extLst xmlns:a="http://schemas.openxmlformats.org/drawingml/2006/main">
              <a:ext uri="{FF2B5EF4-FFF2-40B4-BE49-F238E27FC236}">
                <a16:creationId xmlns:a16="http://schemas.microsoft.com/office/drawing/2014/main" id="{42BEACB2-A0A3-47F9-943E-2670D5072F7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4D0C5"/>
          </a:solidFill>
          <a:ln xmlns:a="http://schemas.openxmlformats.org/drawingml/2006/main" w="0">
            <a:noFill/>
            <a:prstDash val="solid"/>
          </a:ln>
        </p:spPr>
      </p:sp>
      <p:sp>
        <p:nvSpPr>
          <p:cNvPr id="26" name="footer-brand-4">
            <a:extLst xmlns:a="http://schemas.openxmlformats.org/drawingml/2006/main">
              <a:ext uri="{FF2B5EF4-FFF2-40B4-BE49-F238E27FC236}">
                <a16:creationId xmlns:a16="http://schemas.microsoft.com/office/drawing/2014/main" id="{EE47423F-8715-407A-87DF-9CCBF5B1B856}"/>
              </a:ext>
            </a:extLst>
          </p:cNvPr>
          <p:cNvSpPr>
            <a:spLocks xmlns:a="http://schemas.openxmlformats.org/drawingml/2006/main" noGrp="1"/>
          </p:cNvSpPr>
          <p:nvPr/>
        </p:nvSpPr>
        <p:spPr>
          <a:xfrm xmlns:a="http://schemas.openxmlformats.org/drawingml/2006/main">
            <a:off x="609600" y="65532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686C65"/>
                </a:solidFill>
              </a:defRPr>
            </a:pPr>
            <a:r>
              <a:rPr sz="750" b="1">
                <a:solidFill>
                  <a:srgbClr val="686C65"/>
                </a:solidFill>
              </a:rPr>
              <a:t>CODING INTELLIGENCE FIELD STUDY</a:t>
            </a:r>
          </a:p>
        </p:txBody>
      </p:sp>
      <p:sp>
        <p:nvSpPr>
          <p:cNvPr id="27" name="footer-number-4">
            <a:extLst xmlns:a="http://schemas.openxmlformats.org/drawingml/2006/main">
              <a:ext uri="{FF2B5EF4-FFF2-40B4-BE49-F238E27FC236}">
                <a16:creationId xmlns:a16="http://schemas.microsoft.com/office/drawing/2014/main" id="{5943B6F3-0298-404A-906E-C692240F5967}"/>
              </a:ext>
            </a:extLst>
          </p:cNvPr>
          <p:cNvSpPr>
            <a:spLocks xmlns:a="http://schemas.openxmlformats.org/drawingml/2006/main" noGrp="1"/>
          </p:cNvSpPr>
          <p:nvPr/>
        </p:nvSpPr>
        <p:spPr>
          <a:xfrm xmlns:a="http://schemas.openxmlformats.org/drawingml/2006/main">
            <a:off x="11125200" y="65532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111411"/>
                </a:solidFill>
              </a:defRPr>
            </a:pPr>
            <a:r>
              <a:rPr sz="750" b="1">
                <a:solidFill>
                  <a:srgbClr val="111411"/>
                </a:solidFill>
              </a:rPr>
              <a:t>04</a:t>
            </a:r>
          </a:p>
        </p:txBody>
      </p:sp>
    </p:spTree>
    <p:extLst>
      <p:ext uri="{BB962C8B-B14F-4D97-AF65-F5344CB8AC3E}">
        <p14:creationId xmlns:p14="http://schemas.microsoft.com/office/powerpoint/2010/main" val="947027427"/>
      </p:ext>
    </p:extLst>
  </p:cSld>
</p:sld>
</file>

<file path=ppt/slides/slide5.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30" name="eyebrow-04 / Neutral model comparison">
            <a:extLst xmlns:a="http://schemas.openxmlformats.org/drawingml/2006/main">
              <a:ext uri="{FF2B5EF4-FFF2-40B4-BE49-F238E27FC236}">
                <a16:creationId xmlns:a16="http://schemas.microsoft.com/office/drawing/2014/main" id="{F5F2729F-A3A6-43C6-AA48-3687C8005D4D}"/>
              </a:ext>
            </a:extLst>
          </p:cNvPr>
          <p:cNvSpPr>
            <a:spLocks xmlns:a="http://schemas.openxmlformats.org/drawingml/2006/main" noGrp="1"/>
          </p:cNvSpPr>
          <p:nvPr/>
        </p:nvSpPr>
        <p:spPr>
          <a:xfrm xmlns:a="http://schemas.openxmlformats.org/drawingml/2006/main">
            <a:off x="609600" y="438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15CFF"/>
                </a:solidFill>
              </a:defRPr>
            </a:pPr>
            <a:r>
              <a:rPr sz="975" b="1">
                <a:solidFill>
                  <a:srgbClr val="315CFF"/>
                </a:solidFill>
              </a:rPr>
              <a:t>04 / NEUTRAL MODEL COMPARISON</a:t>
            </a:r>
          </a:p>
        </p:txBody>
      </p:sp>
      <p:sp>
        <p:nvSpPr>
          <p:cNvPr id="2" name="title-Capability clustered. Reliability separated.">
            <a:extLst xmlns:a="http://schemas.openxmlformats.org/drawingml/2006/main">
              <a:ext uri="{FF2B5EF4-FFF2-40B4-BE49-F238E27FC236}">
                <a16:creationId xmlns:a16="http://schemas.microsoft.com/office/drawing/2014/main" id="{92BB486D-1387-40FC-A923-80019286A325}"/>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111411"/>
                </a:solidFill>
              </a:defRPr>
            </a:pPr>
            <a:r>
              <a:rPr sz="3300" b="1">
                <a:solidFill>
                  <a:srgbClr val="111411"/>
                </a:solidFill>
              </a:rPr>
              <a:t>Capability clustered. Reliability separated.</a:t>
            </a:r>
          </a:p>
        </p:txBody>
      </p:sp>
      <p:sp>
        <p:nvSpPr>
          <p:cNvPr id="3" name="phase2-quality-subtitle">
            <a:extLst xmlns:a="http://schemas.openxmlformats.org/drawingml/2006/main">
              <a:ext uri="{FF2B5EF4-FFF2-40B4-BE49-F238E27FC236}">
                <a16:creationId xmlns:a16="http://schemas.microsoft.com/office/drawing/2014/main" id="{AFFCA71E-427B-4D88-A197-3A2A01BFE6F1}"/>
              </a:ext>
            </a:extLst>
          </p:cNvPr>
          <p:cNvSpPr>
            <a:spLocks xmlns:a="http://schemas.openxmlformats.org/drawingml/2006/main" noGrp="1"/>
          </p:cNvSpPr>
          <p:nvPr/>
        </p:nvSpPr>
        <p:spPr>
          <a:xfrm xmlns:a="http://schemas.openxmlformats.org/drawingml/2006/main">
            <a:off x="609600" y="1628775"/>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86C65"/>
                </a:solidFill>
              </a:defRPr>
            </a:pPr>
            <a:r>
              <a:rPr sz="1500" b="0">
                <a:solidFill>
                  <a:srgbClr val="686C65"/>
                </a:solidFill>
              </a:rPr>
              <a:t>Strict weighted score across analysis, bounded implementation, and concurrent debugging.</a:t>
            </a:r>
          </a:p>
        </p:txBody>
      </p:sp>
      <p:sp>
        <p:nvSpPr>
          <p:cNvPr id="4" name="sol-label">
            <a:extLst xmlns:a="http://schemas.openxmlformats.org/drawingml/2006/main">
              <a:ext uri="{FF2B5EF4-FFF2-40B4-BE49-F238E27FC236}">
                <a16:creationId xmlns:a16="http://schemas.microsoft.com/office/drawing/2014/main" id="{34B79064-E697-49E6-9EF8-B1934AE258F9}"/>
              </a:ext>
            </a:extLst>
          </p:cNvPr>
          <p:cNvSpPr>
            <a:spLocks xmlns:a="http://schemas.openxmlformats.org/drawingml/2006/main" noGrp="1"/>
          </p:cNvSpPr>
          <p:nvPr/>
        </p:nvSpPr>
        <p:spPr>
          <a:xfrm xmlns:a="http://schemas.openxmlformats.org/drawingml/2006/main">
            <a:off x="762000" y="23812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411"/>
                </a:solidFill>
              </a:defRPr>
            </a:pPr>
            <a:r>
              <a:rPr sz="1275" b="1">
                <a:solidFill>
                  <a:srgbClr val="111411"/>
                </a:solidFill>
              </a:rPr>
              <a:t>GPT-5.6 Sol</a:t>
            </a:r>
          </a:p>
        </p:txBody>
      </p:sp>
      <p:sp>
        <p:nvSpPr>
          <p:cNvPr id="5" name="sol-track">
            <a:extLst xmlns:a="http://schemas.openxmlformats.org/drawingml/2006/main">
              <a:ext uri="{FF2B5EF4-FFF2-40B4-BE49-F238E27FC236}">
                <a16:creationId xmlns:a16="http://schemas.microsoft.com/office/drawing/2014/main" id="{3CB39ACF-D1A2-47A7-B167-9E164A25CBF0}"/>
              </a:ext>
            </a:extLst>
          </p:cNvPr>
          <p:cNvSpPr>
            <a:spLocks xmlns:a="http://schemas.openxmlformats.org/drawingml/2006/main" noGrp="1"/>
          </p:cNvSpPr>
          <p:nvPr/>
        </p:nvSpPr>
        <p:spPr>
          <a:xfrm xmlns:a="http://schemas.openxmlformats.org/drawingml/2006/main">
            <a:off x="2714625" y="2390775"/>
            <a:ext cx="6191250" cy="200025"/>
          </a:xfrm>
          <a:prstGeom xmlns:a="http://schemas.openxmlformats.org/drawingml/2006/main" prst="roundRect">
            <a:avLst>
              <a:gd name="adj" fmla="val 50000"/>
            </a:avLst>
          </a:prstGeom>
          <a:solidFill xmlns:a="http://schemas.openxmlformats.org/drawingml/2006/main">
            <a:srgbClr val="E1DED4"/>
          </a:solidFill>
          <a:ln xmlns:a="http://schemas.openxmlformats.org/drawingml/2006/main" w="0">
            <a:noFill/>
            <a:prstDash val="solid"/>
          </a:ln>
        </p:spPr>
      </p:sp>
      <p:sp>
        <p:nvSpPr>
          <p:cNvPr id="6" name="sol-bar">
            <a:extLst xmlns:a="http://schemas.openxmlformats.org/drawingml/2006/main">
              <a:ext uri="{FF2B5EF4-FFF2-40B4-BE49-F238E27FC236}">
                <a16:creationId xmlns:a16="http://schemas.microsoft.com/office/drawing/2014/main" id="{56432B3C-1A1D-4D26-8D14-95C6A515D46B}"/>
              </a:ext>
            </a:extLst>
          </p:cNvPr>
          <p:cNvSpPr>
            <a:spLocks xmlns:a="http://schemas.openxmlformats.org/drawingml/2006/main" noGrp="1"/>
          </p:cNvSpPr>
          <p:nvPr/>
        </p:nvSpPr>
        <p:spPr>
          <a:xfrm xmlns:a="http://schemas.openxmlformats.org/drawingml/2006/main">
            <a:off x="2714625" y="2390775"/>
            <a:ext cx="6191250" cy="200025"/>
          </a:xfrm>
          <a:prstGeom xmlns:a="http://schemas.openxmlformats.org/drawingml/2006/main" prst="roundRect">
            <a:avLst>
              <a:gd name="adj" fmla="val 50000"/>
            </a:avLst>
          </a:prstGeom>
          <a:solidFill xmlns:a="http://schemas.openxmlformats.org/drawingml/2006/main">
            <a:srgbClr val="315CFF"/>
          </a:solidFill>
          <a:ln xmlns:a="http://schemas.openxmlformats.org/drawingml/2006/main" w="0">
            <a:noFill/>
            <a:prstDash val="solid"/>
          </a:ln>
        </p:spPr>
      </p:sp>
      <p:sp>
        <p:nvSpPr>
          <p:cNvPr id="7" name="sol-value">
            <a:extLst xmlns:a="http://schemas.openxmlformats.org/drawingml/2006/main">
              <a:ext uri="{FF2B5EF4-FFF2-40B4-BE49-F238E27FC236}">
                <a16:creationId xmlns:a16="http://schemas.microsoft.com/office/drawing/2014/main" id="{1D471DF3-AC25-4BC2-9FD4-B0E9B1615BB3}"/>
              </a:ext>
            </a:extLst>
          </p:cNvPr>
          <p:cNvSpPr>
            <a:spLocks xmlns:a="http://schemas.openxmlformats.org/drawingml/2006/main" noGrp="1"/>
          </p:cNvSpPr>
          <p:nvPr/>
        </p:nvSpPr>
        <p:spPr>
          <a:xfrm xmlns:a="http://schemas.openxmlformats.org/drawingml/2006/main">
            <a:off x="9058275" y="2362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411"/>
                </a:solidFill>
              </a:defRPr>
            </a:pPr>
            <a:r>
              <a:rPr sz="1200" b="1">
                <a:solidFill>
                  <a:srgbClr val="111411"/>
                </a:solidFill>
              </a:rPr>
              <a:t>100  ·  3/3 writes</a:t>
            </a:r>
          </a:p>
        </p:txBody>
      </p:sp>
      <p:sp>
        <p:nvSpPr>
          <p:cNvPr id="8" name="glm-label">
            <a:extLst xmlns:a="http://schemas.openxmlformats.org/drawingml/2006/main">
              <a:ext uri="{FF2B5EF4-FFF2-40B4-BE49-F238E27FC236}">
                <a16:creationId xmlns:a16="http://schemas.microsoft.com/office/drawing/2014/main" id="{155FDA8C-59B3-4546-B3E8-355EDFF0A704}"/>
              </a:ext>
            </a:extLst>
          </p:cNvPr>
          <p:cNvSpPr>
            <a:spLocks xmlns:a="http://schemas.openxmlformats.org/drawingml/2006/main" noGrp="1"/>
          </p:cNvSpPr>
          <p:nvPr/>
        </p:nvSpPr>
        <p:spPr>
          <a:xfrm xmlns:a="http://schemas.openxmlformats.org/drawingml/2006/main">
            <a:off x="762000" y="29146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411"/>
                </a:solidFill>
              </a:defRPr>
            </a:pPr>
            <a:r>
              <a:rPr sz="1275" b="1">
                <a:solidFill>
                  <a:srgbClr val="111411"/>
                </a:solidFill>
              </a:rPr>
              <a:t>GLM 5.2</a:t>
            </a:r>
          </a:p>
        </p:txBody>
      </p:sp>
      <p:sp>
        <p:nvSpPr>
          <p:cNvPr id="9" name="glm-track">
            <a:extLst xmlns:a="http://schemas.openxmlformats.org/drawingml/2006/main">
              <a:ext uri="{FF2B5EF4-FFF2-40B4-BE49-F238E27FC236}">
                <a16:creationId xmlns:a16="http://schemas.microsoft.com/office/drawing/2014/main" id="{1E775832-546F-488C-A95D-A71BC73AF136}"/>
              </a:ext>
            </a:extLst>
          </p:cNvPr>
          <p:cNvSpPr>
            <a:spLocks xmlns:a="http://schemas.openxmlformats.org/drawingml/2006/main" noGrp="1"/>
          </p:cNvSpPr>
          <p:nvPr/>
        </p:nvSpPr>
        <p:spPr>
          <a:xfrm xmlns:a="http://schemas.openxmlformats.org/drawingml/2006/main">
            <a:off x="2714625" y="2924175"/>
            <a:ext cx="6191250" cy="200025"/>
          </a:xfrm>
          <a:prstGeom xmlns:a="http://schemas.openxmlformats.org/drawingml/2006/main" prst="roundRect">
            <a:avLst>
              <a:gd name="adj" fmla="val 50000"/>
            </a:avLst>
          </a:prstGeom>
          <a:solidFill xmlns:a="http://schemas.openxmlformats.org/drawingml/2006/main">
            <a:srgbClr val="E1DED4"/>
          </a:solidFill>
          <a:ln xmlns:a="http://schemas.openxmlformats.org/drawingml/2006/main" w="0">
            <a:noFill/>
            <a:prstDash val="solid"/>
          </a:ln>
        </p:spPr>
      </p:sp>
      <p:sp>
        <p:nvSpPr>
          <p:cNvPr id="10" name="glm-bar">
            <a:extLst xmlns:a="http://schemas.openxmlformats.org/drawingml/2006/main">
              <a:ext uri="{FF2B5EF4-FFF2-40B4-BE49-F238E27FC236}">
                <a16:creationId xmlns:a16="http://schemas.microsoft.com/office/drawing/2014/main" id="{168C7CA3-D906-4E6E-B479-DDCEE9C343CE}"/>
              </a:ext>
            </a:extLst>
          </p:cNvPr>
          <p:cNvSpPr>
            <a:spLocks xmlns:a="http://schemas.openxmlformats.org/drawingml/2006/main" noGrp="1"/>
          </p:cNvSpPr>
          <p:nvPr/>
        </p:nvSpPr>
        <p:spPr>
          <a:xfrm xmlns:a="http://schemas.openxmlformats.org/drawingml/2006/main">
            <a:off x="2714625" y="2924175"/>
            <a:ext cx="6191250" cy="200025"/>
          </a:xfrm>
          <a:prstGeom xmlns:a="http://schemas.openxmlformats.org/drawingml/2006/main" prst="roundRect">
            <a:avLst>
              <a:gd name="adj" fmla="val 50000"/>
            </a:avLst>
          </a:prstGeom>
          <a:solidFill xmlns:a="http://schemas.openxmlformats.org/drawingml/2006/main">
            <a:srgbClr val="6848D8"/>
          </a:solidFill>
          <a:ln xmlns:a="http://schemas.openxmlformats.org/drawingml/2006/main" w="0">
            <a:noFill/>
            <a:prstDash val="solid"/>
          </a:ln>
        </p:spPr>
      </p:sp>
      <p:sp>
        <p:nvSpPr>
          <p:cNvPr id="11" name="glm-value">
            <a:extLst xmlns:a="http://schemas.openxmlformats.org/drawingml/2006/main">
              <a:ext uri="{FF2B5EF4-FFF2-40B4-BE49-F238E27FC236}">
                <a16:creationId xmlns:a16="http://schemas.microsoft.com/office/drawing/2014/main" id="{C39A0F50-C44E-4CB5-986C-48AB228140C7}"/>
              </a:ext>
            </a:extLst>
          </p:cNvPr>
          <p:cNvSpPr>
            <a:spLocks xmlns:a="http://schemas.openxmlformats.org/drawingml/2006/main" noGrp="1"/>
          </p:cNvSpPr>
          <p:nvPr/>
        </p:nvSpPr>
        <p:spPr>
          <a:xfrm xmlns:a="http://schemas.openxmlformats.org/drawingml/2006/main">
            <a:off x="9058275" y="28956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411"/>
                </a:solidFill>
              </a:defRPr>
            </a:pPr>
            <a:r>
              <a:rPr sz="1200" b="1">
                <a:solidFill>
                  <a:srgbClr val="111411"/>
                </a:solidFill>
              </a:rPr>
              <a:t>100  ·  3/3 writes</a:t>
            </a:r>
          </a:p>
        </p:txBody>
      </p:sp>
      <p:sp>
        <p:nvSpPr>
          <p:cNvPr id="12" name="fable-label">
            <a:extLst xmlns:a="http://schemas.openxmlformats.org/drawingml/2006/main">
              <a:ext uri="{FF2B5EF4-FFF2-40B4-BE49-F238E27FC236}">
                <a16:creationId xmlns:a16="http://schemas.microsoft.com/office/drawing/2014/main" id="{FA7395E4-809B-4887-82F5-F552C73FBA22}"/>
              </a:ext>
            </a:extLst>
          </p:cNvPr>
          <p:cNvSpPr>
            <a:spLocks xmlns:a="http://schemas.openxmlformats.org/drawingml/2006/main" noGrp="1"/>
          </p:cNvSpPr>
          <p:nvPr/>
        </p:nvSpPr>
        <p:spPr>
          <a:xfrm xmlns:a="http://schemas.openxmlformats.org/drawingml/2006/main">
            <a:off x="762000" y="34480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411"/>
                </a:solidFill>
              </a:defRPr>
            </a:pPr>
            <a:r>
              <a:rPr sz="1275" b="1">
                <a:solidFill>
                  <a:srgbClr val="111411"/>
                </a:solidFill>
              </a:rPr>
              <a:t>Claude Fable 5</a:t>
            </a:r>
          </a:p>
        </p:txBody>
      </p:sp>
      <p:sp>
        <p:nvSpPr>
          <p:cNvPr id="13" name="fable-track">
            <a:extLst xmlns:a="http://schemas.openxmlformats.org/drawingml/2006/main">
              <a:ext uri="{FF2B5EF4-FFF2-40B4-BE49-F238E27FC236}">
                <a16:creationId xmlns:a16="http://schemas.microsoft.com/office/drawing/2014/main" id="{0432BDB6-4F40-4B87-8995-D57056E7655A}"/>
              </a:ext>
            </a:extLst>
          </p:cNvPr>
          <p:cNvSpPr>
            <a:spLocks xmlns:a="http://schemas.openxmlformats.org/drawingml/2006/main" noGrp="1"/>
          </p:cNvSpPr>
          <p:nvPr/>
        </p:nvSpPr>
        <p:spPr>
          <a:xfrm xmlns:a="http://schemas.openxmlformats.org/drawingml/2006/main">
            <a:off x="2714625" y="3457575"/>
            <a:ext cx="6191250" cy="200025"/>
          </a:xfrm>
          <a:prstGeom xmlns:a="http://schemas.openxmlformats.org/drawingml/2006/main" prst="roundRect">
            <a:avLst>
              <a:gd name="adj" fmla="val 50000"/>
            </a:avLst>
          </a:prstGeom>
          <a:solidFill xmlns:a="http://schemas.openxmlformats.org/drawingml/2006/main">
            <a:srgbClr val="E1DED4"/>
          </a:solidFill>
          <a:ln xmlns:a="http://schemas.openxmlformats.org/drawingml/2006/main" w="0">
            <a:noFill/>
            <a:prstDash val="solid"/>
          </a:ln>
        </p:spPr>
      </p:sp>
      <p:sp>
        <p:nvSpPr>
          <p:cNvPr id="14" name="fable-bar">
            <a:extLst xmlns:a="http://schemas.openxmlformats.org/drawingml/2006/main">
              <a:ext uri="{FF2B5EF4-FFF2-40B4-BE49-F238E27FC236}">
                <a16:creationId xmlns:a16="http://schemas.microsoft.com/office/drawing/2014/main" id="{06AC9702-360E-4775-8E78-EE35C58D43F7}"/>
              </a:ext>
            </a:extLst>
          </p:cNvPr>
          <p:cNvSpPr>
            <a:spLocks xmlns:a="http://schemas.openxmlformats.org/drawingml/2006/main" noGrp="1"/>
          </p:cNvSpPr>
          <p:nvPr/>
        </p:nvSpPr>
        <p:spPr>
          <a:xfrm xmlns:a="http://schemas.openxmlformats.org/drawingml/2006/main">
            <a:off x="2714625" y="3457575"/>
            <a:ext cx="6178868" cy="200025"/>
          </a:xfrm>
          <a:prstGeom xmlns:a="http://schemas.openxmlformats.org/drawingml/2006/main" prst="roundRect">
            <a:avLst>
              <a:gd name="adj" fmla="val 50000"/>
            </a:avLst>
          </a:prstGeom>
          <a:solidFill xmlns:a="http://schemas.openxmlformats.org/drawingml/2006/main">
            <a:srgbClr val="FF5D47"/>
          </a:solidFill>
          <a:ln xmlns:a="http://schemas.openxmlformats.org/drawingml/2006/main" w="0">
            <a:noFill/>
            <a:prstDash val="solid"/>
          </a:ln>
        </p:spPr>
      </p:sp>
      <p:sp>
        <p:nvSpPr>
          <p:cNvPr id="15" name="fable-value">
            <a:extLst xmlns:a="http://schemas.openxmlformats.org/drawingml/2006/main">
              <a:ext uri="{FF2B5EF4-FFF2-40B4-BE49-F238E27FC236}">
                <a16:creationId xmlns:a16="http://schemas.microsoft.com/office/drawing/2014/main" id="{05769EB2-1A6B-49D3-8C35-BF9020B904CB}"/>
              </a:ext>
            </a:extLst>
          </p:cNvPr>
          <p:cNvSpPr>
            <a:spLocks xmlns:a="http://schemas.openxmlformats.org/drawingml/2006/main" noGrp="1"/>
          </p:cNvSpPr>
          <p:nvPr/>
        </p:nvSpPr>
        <p:spPr>
          <a:xfrm xmlns:a="http://schemas.openxmlformats.org/drawingml/2006/main">
            <a:off x="9058275" y="34290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411"/>
                </a:solidFill>
              </a:defRPr>
            </a:pPr>
            <a:r>
              <a:rPr sz="1200" b="1">
                <a:solidFill>
                  <a:srgbClr val="111411"/>
                </a:solidFill>
              </a:rPr>
              <a:t>99.8  ·  3/3 writes</a:t>
            </a:r>
          </a:p>
        </p:txBody>
      </p:sp>
      <p:sp>
        <p:nvSpPr>
          <p:cNvPr id="16" name="qwen-label">
            <a:extLst xmlns:a="http://schemas.openxmlformats.org/drawingml/2006/main">
              <a:ext uri="{FF2B5EF4-FFF2-40B4-BE49-F238E27FC236}">
                <a16:creationId xmlns:a16="http://schemas.microsoft.com/office/drawing/2014/main" id="{17E2B226-3391-4A81-81FA-76353CDA6080}"/>
              </a:ext>
            </a:extLst>
          </p:cNvPr>
          <p:cNvSpPr>
            <a:spLocks xmlns:a="http://schemas.openxmlformats.org/drawingml/2006/main" noGrp="1"/>
          </p:cNvSpPr>
          <p:nvPr/>
        </p:nvSpPr>
        <p:spPr>
          <a:xfrm xmlns:a="http://schemas.openxmlformats.org/drawingml/2006/main">
            <a:off x="762000" y="39814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411"/>
                </a:solidFill>
              </a:defRPr>
            </a:pPr>
            <a:r>
              <a:rPr sz="1275" b="1">
                <a:solidFill>
                  <a:srgbClr val="111411"/>
                </a:solidFill>
              </a:rPr>
              <a:t>Qwen3.8-27B</a:t>
            </a:r>
          </a:p>
        </p:txBody>
      </p:sp>
      <p:sp>
        <p:nvSpPr>
          <p:cNvPr id="17" name="qwen-track">
            <a:extLst xmlns:a="http://schemas.openxmlformats.org/drawingml/2006/main">
              <a:ext uri="{FF2B5EF4-FFF2-40B4-BE49-F238E27FC236}">
                <a16:creationId xmlns:a16="http://schemas.microsoft.com/office/drawing/2014/main" id="{EB23D119-A2A8-40E6-A705-137A92343B84}"/>
              </a:ext>
            </a:extLst>
          </p:cNvPr>
          <p:cNvSpPr>
            <a:spLocks xmlns:a="http://schemas.openxmlformats.org/drawingml/2006/main" noGrp="1"/>
          </p:cNvSpPr>
          <p:nvPr/>
        </p:nvSpPr>
        <p:spPr>
          <a:xfrm xmlns:a="http://schemas.openxmlformats.org/drawingml/2006/main">
            <a:off x="2714625" y="3990975"/>
            <a:ext cx="6191250" cy="200025"/>
          </a:xfrm>
          <a:prstGeom xmlns:a="http://schemas.openxmlformats.org/drawingml/2006/main" prst="roundRect">
            <a:avLst>
              <a:gd name="adj" fmla="val 50000"/>
            </a:avLst>
          </a:prstGeom>
          <a:solidFill xmlns:a="http://schemas.openxmlformats.org/drawingml/2006/main">
            <a:srgbClr val="E1DED4"/>
          </a:solidFill>
          <a:ln xmlns:a="http://schemas.openxmlformats.org/drawingml/2006/main" w="0">
            <a:noFill/>
            <a:prstDash val="solid"/>
          </a:ln>
        </p:spPr>
      </p:sp>
      <p:sp>
        <p:nvSpPr>
          <p:cNvPr id="18" name="qwen-bar">
            <a:extLst xmlns:a="http://schemas.openxmlformats.org/drawingml/2006/main">
              <a:ext uri="{FF2B5EF4-FFF2-40B4-BE49-F238E27FC236}">
                <a16:creationId xmlns:a16="http://schemas.microsoft.com/office/drawing/2014/main" id="{997EE888-721F-4955-B33F-BD25B62C2A46}"/>
              </a:ext>
            </a:extLst>
          </p:cNvPr>
          <p:cNvSpPr>
            <a:spLocks xmlns:a="http://schemas.openxmlformats.org/drawingml/2006/main" noGrp="1"/>
          </p:cNvSpPr>
          <p:nvPr/>
        </p:nvSpPr>
        <p:spPr>
          <a:xfrm xmlns:a="http://schemas.openxmlformats.org/drawingml/2006/main">
            <a:off x="2714625" y="3990975"/>
            <a:ext cx="6116955" cy="200025"/>
          </a:xfrm>
          <a:prstGeom xmlns:a="http://schemas.openxmlformats.org/drawingml/2006/main" prst="roundRect">
            <a:avLst>
              <a:gd name="adj" fmla="val 50000"/>
            </a:avLst>
          </a:prstGeom>
          <a:solidFill xmlns:a="http://schemas.openxmlformats.org/drawingml/2006/main">
            <a:srgbClr val="75A500"/>
          </a:solidFill>
          <a:ln xmlns:a="http://schemas.openxmlformats.org/drawingml/2006/main" w="0">
            <a:noFill/>
            <a:prstDash val="solid"/>
          </a:ln>
        </p:spPr>
      </p:sp>
      <p:sp>
        <p:nvSpPr>
          <p:cNvPr id="19" name="qwen-value">
            <a:extLst xmlns:a="http://schemas.openxmlformats.org/drawingml/2006/main">
              <a:ext uri="{FF2B5EF4-FFF2-40B4-BE49-F238E27FC236}">
                <a16:creationId xmlns:a16="http://schemas.microsoft.com/office/drawing/2014/main" id="{50D254E5-14ED-450E-89F8-67783B63499A}"/>
              </a:ext>
            </a:extLst>
          </p:cNvPr>
          <p:cNvSpPr>
            <a:spLocks xmlns:a="http://schemas.openxmlformats.org/drawingml/2006/main" noGrp="1"/>
          </p:cNvSpPr>
          <p:nvPr/>
        </p:nvSpPr>
        <p:spPr>
          <a:xfrm xmlns:a="http://schemas.openxmlformats.org/drawingml/2006/main">
            <a:off x="9058275" y="3962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411"/>
                </a:solidFill>
              </a:defRPr>
            </a:pPr>
            <a:r>
              <a:rPr sz="1200" b="1">
                <a:solidFill>
                  <a:srgbClr val="111411"/>
                </a:solidFill>
              </a:rPr>
              <a:t>98.8  ·  3/3 writes</a:t>
            </a:r>
          </a:p>
        </p:txBody>
      </p:sp>
      <p:sp>
        <p:nvSpPr>
          <p:cNvPr id="20" name="kimi-label">
            <a:extLst xmlns:a="http://schemas.openxmlformats.org/drawingml/2006/main">
              <a:ext uri="{FF2B5EF4-FFF2-40B4-BE49-F238E27FC236}">
                <a16:creationId xmlns:a16="http://schemas.microsoft.com/office/drawing/2014/main" id="{EFEB9893-D27A-4764-AA7B-F377655F9BE0}"/>
              </a:ext>
            </a:extLst>
          </p:cNvPr>
          <p:cNvSpPr>
            <a:spLocks xmlns:a="http://schemas.openxmlformats.org/drawingml/2006/main" noGrp="1"/>
          </p:cNvSpPr>
          <p:nvPr/>
        </p:nvSpPr>
        <p:spPr>
          <a:xfrm xmlns:a="http://schemas.openxmlformats.org/drawingml/2006/main">
            <a:off x="762000" y="45148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411"/>
                </a:solidFill>
              </a:defRPr>
            </a:pPr>
            <a:r>
              <a:rPr sz="1275" b="1">
                <a:solidFill>
                  <a:srgbClr val="111411"/>
                </a:solidFill>
              </a:rPr>
              <a:t>Kimi K3</a:t>
            </a:r>
          </a:p>
        </p:txBody>
      </p:sp>
      <p:sp>
        <p:nvSpPr>
          <p:cNvPr id="21" name="kimi-track">
            <a:extLst xmlns:a="http://schemas.openxmlformats.org/drawingml/2006/main">
              <a:ext uri="{FF2B5EF4-FFF2-40B4-BE49-F238E27FC236}">
                <a16:creationId xmlns:a16="http://schemas.microsoft.com/office/drawing/2014/main" id="{200DF89B-F58B-4D9B-813B-07816A257E37}"/>
              </a:ext>
            </a:extLst>
          </p:cNvPr>
          <p:cNvSpPr>
            <a:spLocks xmlns:a="http://schemas.openxmlformats.org/drawingml/2006/main" noGrp="1"/>
          </p:cNvSpPr>
          <p:nvPr/>
        </p:nvSpPr>
        <p:spPr>
          <a:xfrm xmlns:a="http://schemas.openxmlformats.org/drawingml/2006/main">
            <a:off x="2714625" y="4524375"/>
            <a:ext cx="6191250" cy="200025"/>
          </a:xfrm>
          <a:prstGeom xmlns:a="http://schemas.openxmlformats.org/drawingml/2006/main" prst="roundRect">
            <a:avLst>
              <a:gd name="adj" fmla="val 50000"/>
            </a:avLst>
          </a:prstGeom>
          <a:solidFill xmlns:a="http://schemas.openxmlformats.org/drawingml/2006/main">
            <a:srgbClr val="E1DED4"/>
          </a:solidFill>
          <a:ln xmlns:a="http://schemas.openxmlformats.org/drawingml/2006/main" w="0">
            <a:noFill/>
            <a:prstDash val="solid"/>
          </a:ln>
        </p:spPr>
      </p:sp>
      <p:sp>
        <p:nvSpPr>
          <p:cNvPr id="22" name="kimi-bar">
            <a:extLst xmlns:a="http://schemas.openxmlformats.org/drawingml/2006/main">
              <a:ext uri="{FF2B5EF4-FFF2-40B4-BE49-F238E27FC236}">
                <a16:creationId xmlns:a16="http://schemas.microsoft.com/office/drawing/2014/main" id="{502B8C3D-4CC4-4951-8F39-5F074773C3F5}"/>
              </a:ext>
            </a:extLst>
          </p:cNvPr>
          <p:cNvSpPr>
            <a:spLocks xmlns:a="http://schemas.openxmlformats.org/drawingml/2006/main" noGrp="1"/>
          </p:cNvSpPr>
          <p:nvPr/>
        </p:nvSpPr>
        <p:spPr>
          <a:xfrm xmlns:a="http://schemas.openxmlformats.org/drawingml/2006/main">
            <a:off x="2714625" y="4524375"/>
            <a:ext cx="4256484" cy="200025"/>
          </a:xfrm>
          <a:prstGeom xmlns:a="http://schemas.openxmlformats.org/drawingml/2006/main" prst="roundRect">
            <a:avLst>
              <a:gd name="adj" fmla="val 50000"/>
            </a:avLst>
          </a:prstGeom>
          <a:solidFill xmlns:a="http://schemas.openxmlformats.org/drawingml/2006/main">
            <a:srgbClr val="111411"/>
          </a:solidFill>
          <a:ln xmlns:a="http://schemas.openxmlformats.org/drawingml/2006/main" w="0">
            <a:noFill/>
            <a:prstDash val="solid"/>
          </a:ln>
        </p:spPr>
      </p:sp>
      <p:sp>
        <p:nvSpPr>
          <p:cNvPr id="23" name="kimi-value">
            <a:extLst xmlns:a="http://schemas.openxmlformats.org/drawingml/2006/main">
              <a:ext uri="{FF2B5EF4-FFF2-40B4-BE49-F238E27FC236}">
                <a16:creationId xmlns:a16="http://schemas.microsoft.com/office/drawing/2014/main" id="{09B75179-B295-41EB-B1F4-FCA5C42E8664}"/>
              </a:ext>
            </a:extLst>
          </p:cNvPr>
          <p:cNvSpPr>
            <a:spLocks xmlns:a="http://schemas.openxmlformats.org/drawingml/2006/main" noGrp="1"/>
          </p:cNvSpPr>
          <p:nvPr/>
        </p:nvSpPr>
        <p:spPr>
          <a:xfrm xmlns:a="http://schemas.openxmlformats.org/drawingml/2006/main">
            <a:off x="9058275" y="44958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411"/>
                </a:solidFill>
              </a:defRPr>
            </a:pPr>
            <a:r>
              <a:rPr sz="1200" b="1">
                <a:solidFill>
                  <a:srgbClr val="111411"/>
                </a:solidFill>
              </a:rPr>
              <a:t>68.75  ·  1/3 writes</a:t>
            </a:r>
          </a:p>
        </p:txBody>
      </p:sp>
      <p:sp>
        <p:nvSpPr>
          <p:cNvPr id="24" name="phase2-quality-callout">
            <a:extLst xmlns:a="http://schemas.openxmlformats.org/drawingml/2006/main">
              <a:ext uri="{FF2B5EF4-FFF2-40B4-BE49-F238E27FC236}">
                <a16:creationId xmlns:a16="http://schemas.microsoft.com/office/drawing/2014/main" id="{6708A9D7-5468-47AA-BA4D-A8FE89B73FF3}"/>
              </a:ext>
            </a:extLst>
          </p:cNvPr>
          <p:cNvSpPr>
            <a:spLocks xmlns:a="http://schemas.openxmlformats.org/drawingml/2006/main" noGrp="1"/>
          </p:cNvSpPr>
          <p:nvPr/>
        </p:nvSpPr>
        <p:spPr>
          <a:xfrm xmlns:a="http://schemas.openxmlformats.org/drawingml/2006/main">
            <a:off x="762000" y="5314950"/>
            <a:ext cx="10363200" cy="742950"/>
          </a:xfrm>
          <a:prstGeom xmlns:a="http://schemas.openxmlformats.org/drawingml/2006/main" prst="roundRect">
            <a:avLst>
              <a:gd name="adj" fmla="val 15385"/>
            </a:avLst>
          </a:prstGeom>
          <a:solidFill xmlns:a="http://schemas.openxmlformats.org/drawingml/2006/main">
            <a:srgbClr val="111411"/>
          </a:solidFill>
          <a:ln xmlns:a="http://schemas.openxmlformats.org/drawingml/2006/main" w="0">
            <a:noFill/>
            <a:prstDash val="solid"/>
          </a:ln>
        </p:spPr>
      </p:sp>
      <p:sp>
        <p:nvSpPr>
          <p:cNvPr id="25" name="phase2-quality-callout-label">
            <a:extLst xmlns:a="http://schemas.openxmlformats.org/drawingml/2006/main">
              <a:ext uri="{FF2B5EF4-FFF2-40B4-BE49-F238E27FC236}">
                <a16:creationId xmlns:a16="http://schemas.microsoft.com/office/drawing/2014/main" id="{82BD2C63-CD03-49BC-A434-EB6A80536659}"/>
              </a:ext>
            </a:extLst>
          </p:cNvPr>
          <p:cNvSpPr>
            <a:spLocks xmlns:a="http://schemas.openxmlformats.org/drawingml/2006/main" noGrp="1"/>
          </p:cNvSpPr>
          <p:nvPr/>
        </p:nvSpPr>
        <p:spPr>
          <a:xfrm xmlns:a="http://schemas.openxmlformats.org/drawingml/2006/main">
            <a:off x="990600" y="55340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C8FF3D"/>
                </a:solidFill>
              </a:defRPr>
            </a:pPr>
            <a:r>
              <a:rPr sz="900" b="1">
                <a:solidFill>
                  <a:srgbClr val="C8FF3D"/>
                </a:solidFill>
              </a:rPr>
              <a:t>RELIABILITY RULE</a:t>
            </a:r>
          </a:p>
        </p:txBody>
      </p:sp>
      <p:sp>
        <p:nvSpPr>
          <p:cNvPr id="26" name="phase2-quality-callout-text">
            <a:extLst xmlns:a="http://schemas.openxmlformats.org/drawingml/2006/main">
              <a:ext uri="{FF2B5EF4-FFF2-40B4-BE49-F238E27FC236}">
                <a16:creationId xmlns:a16="http://schemas.microsoft.com/office/drawing/2014/main" id="{08530A47-D2F9-4577-8F70-3B11E4F52423}"/>
              </a:ext>
            </a:extLst>
          </p:cNvPr>
          <p:cNvSpPr>
            <a:spLocks xmlns:a="http://schemas.openxmlformats.org/drawingml/2006/main" noGrp="1"/>
          </p:cNvSpPr>
          <p:nvPr/>
        </p:nvSpPr>
        <p:spPr>
          <a:xfrm xmlns:a="http://schemas.openxmlformats.org/drawingml/2006/main">
            <a:off x="2762250" y="5467350"/>
            <a:ext cx="790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BFAF5"/>
                </a:solidFill>
              </a:defRPr>
            </a:pPr>
            <a:r>
              <a:rPr sz="1575" b="1">
                <a:solidFill>
                  <a:srgbClr val="FBFAF5"/>
                </a:solidFill>
              </a:rPr>
              <a:t>A saved patch can be capable and still fail the operating lane when the run times out.</a:t>
            </a:r>
          </a:p>
        </p:txBody>
      </p:sp>
      <p:sp>
        <p:nvSpPr>
          <p:cNvPr id="27" name="footer-line-5">
            <a:extLst xmlns:a="http://schemas.openxmlformats.org/drawingml/2006/main">
              <a:ext uri="{FF2B5EF4-FFF2-40B4-BE49-F238E27FC236}">
                <a16:creationId xmlns:a16="http://schemas.microsoft.com/office/drawing/2014/main" id="{19DA2571-073F-43A2-A846-B0029DDD1C3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4D0C5"/>
          </a:solidFill>
          <a:ln xmlns:a="http://schemas.openxmlformats.org/drawingml/2006/main" w="0">
            <a:noFill/>
            <a:prstDash val="solid"/>
          </a:ln>
        </p:spPr>
      </p:sp>
      <p:sp>
        <p:nvSpPr>
          <p:cNvPr id="28" name="footer-brand-5">
            <a:extLst xmlns:a="http://schemas.openxmlformats.org/drawingml/2006/main">
              <a:ext uri="{FF2B5EF4-FFF2-40B4-BE49-F238E27FC236}">
                <a16:creationId xmlns:a16="http://schemas.microsoft.com/office/drawing/2014/main" id="{432B917E-422A-462A-8A74-C32856639002}"/>
              </a:ext>
            </a:extLst>
          </p:cNvPr>
          <p:cNvSpPr>
            <a:spLocks xmlns:a="http://schemas.openxmlformats.org/drawingml/2006/main" noGrp="1"/>
          </p:cNvSpPr>
          <p:nvPr/>
        </p:nvSpPr>
        <p:spPr>
          <a:xfrm xmlns:a="http://schemas.openxmlformats.org/drawingml/2006/main">
            <a:off x="609600" y="65532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686C65"/>
                </a:solidFill>
              </a:defRPr>
            </a:pPr>
            <a:r>
              <a:rPr sz="750" b="1">
                <a:solidFill>
                  <a:srgbClr val="686C65"/>
                </a:solidFill>
              </a:rPr>
              <a:t>CODING INTELLIGENCE FIELD STUDY</a:t>
            </a:r>
          </a:p>
        </p:txBody>
      </p:sp>
      <p:sp>
        <p:nvSpPr>
          <p:cNvPr id="29" name="footer-number-5">
            <a:extLst xmlns:a="http://schemas.openxmlformats.org/drawingml/2006/main">
              <a:ext uri="{FF2B5EF4-FFF2-40B4-BE49-F238E27FC236}">
                <a16:creationId xmlns:a16="http://schemas.microsoft.com/office/drawing/2014/main" id="{3DA6250D-367A-4939-A75D-7FC37A17CA0C}"/>
              </a:ext>
            </a:extLst>
          </p:cNvPr>
          <p:cNvSpPr>
            <a:spLocks xmlns:a="http://schemas.openxmlformats.org/drawingml/2006/main" noGrp="1"/>
          </p:cNvSpPr>
          <p:nvPr/>
        </p:nvSpPr>
        <p:spPr>
          <a:xfrm xmlns:a="http://schemas.openxmlformats.org/drawingml/2006/main">
            <a:off x="11125200" y="65532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111411"/>
                </a:solidFill>
              </a:defRPr>
            </a:pPr>
            <a:r>
              <a:rPr sz="750" b="1">
                <a:solidFill>
                  <a:srgbClr val="111411"/>
                </a:solidFill>
              </a:rPr>
              <a:t>05</a:t>
            </a:r>
          </a:p>
        </p:txBody>
      </p:sp>
    </p:spTree>
    <p:extLst>
      <p:ext uri="{BB962C8B-B14F-4D97-AF65-F5344CB8AC3E}">
        <p14:creationId xmlns:p14="http://schemas.microsoft.com/office/powerpoint/2010/main" val="461483725"/>
      </p:ext>
    </p:extLst>
  </p:cSld>
</p:sld>
</file>

<file path=ppt/slides/slide6.xml><?xml version="1.0" encoding="utf-8"?>
<p:sld xmlns:p="http://schemas.openxmlformats.org/presentationml/2006/main">
  <p:cSld>
    <p:bg>
      <p:bgPr>
        <a:solidFill xmlns:a="http://schemas.openxmlformats.org/drawingml/2006/main">
          <a:srgbClr val="111411"/>
        </a:solidFill>
      </p:bgPr>
    </p:bg>
    <p:spTree>
      <p:nvGrpSpPr>
        <p:cNvPr id="1" name=""/>
        <p:cNvGrpSpPr/>
        <p:nvPr/>
      </p:nvGrpSpPr>
      <p:grpSpPr>
        <a:xfrm xmlns:a="http://schemas.openxmlformats.org/drawingml/2006/main"/>
      </p:grpSpPr>
      <p:sp>
        <p:nvSpPr>
          <p:cNvPr id="30" name="eyebrow-05 / Economics">
            <a:extLst xmlns:a="http://schemas.openxmlformats.org/drawingml/2006/main">
              <a:ext uri="{FF2B5EF4-FFF2-40B4-BE49-F238E27FC236}">
                <a16:creationId xmlns:a16="http://schemas.microsoft.com/office/drawing/2014/main" id="{B05F3E83-B7BE-4227-A501-B3BAAD051113}"/>
              </a:ext>
            </a:extLst>
          </p:cNvPr>
          <p:cNvSpPr>
            <a:spLocks xmlns:a="http://schemas.openxmlformats.org/drawingml/2006/main" noGrp="1"/>
          </p:cNvSpPr>
          <p:nvPr/>
        </p:nvSpPr>
        <p:spPr>
          <a:xfrm xmlns:a="http://schemas.openxmlformats.org/drawingml/2006/main">
            <a:off x="609600" y="438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8FF3D"/>
                </a:solidFill>
              </a:defRPr>
            </a:pPr>
            <a:r>
              <a:rPr sz="975" b="1">
                <a:solidFill>
                  <a:srgbClr val="C8FF3D"/>
                </a:solidFill>
              </a:rPr>
              <a:t>05 / ECONOMICS</a:t>
            </a:r>
          </a:p>
        </p:txBody>
      </p:sp>
      <p:sp>
        <p:nvSpPr>
          <p:cNvPr id="2" name="title-Qwen was the cheapest reliable worker.">
            <a:extLst xmlns:a="http://schemas.openxmlformats.org/drawingml/2006/main">
              <a:ext uri="{FF2B5EF4-FFF2-40B4-BE49-F238E27FC236}">
                <a16:creationId xmlns:a16="http://schemas.microsoft.com/office/drawing/2014/main" id="{AAA3471E-BF07-4C97-A458-67ED4D661965}"/>
              </a:ext>
            </a:extLst>
          </p:cNvPr>
          <p:cNvSpPr>
            <a:spLocks xmlns:a="http://schemas.openxmlformats.org/drawingml/2006/main" noGrp="1"/>
          </p:cNvSpPr>
          <p:nvPr/>
        </p:nvSpPr>
        <p:spPr>
          <a:xfrm xmlns:a="http://schemas.openxmlformats.org/drawingml/2006/main">
            <a:off x="609600" y="7810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FBFAF5"/>
                </a:solidFill>
              </a:defRPr>
            </a:pPr>
            <a:r>
              <a:rPr sz="3225" b="1">
                <a:solidFill>
                  <a:srgbClr val="FBFAF5"/>
                </a:solidFill>
              </a:rPr>
              <a:t>Qwen was the cheapest reliable worker.</a:t>
            </a:r>
          </a:p>
        </p:txBody>
      </p:sp>
      <p:sp>
        <p:nvSpPr>
          <p:cNvPr id="3" name="cost-subtitle">
            <a:extLst xmlns:a="http://schemas.openxmlformats.org/drawingml/2006/main">
              <a:ext uri="{FF2B5EF4-FFF2-40B4-BE49-F238E27FC236}">
                <a16:creationId xmlns:a16="http://schemas.microsoft.com/office/drawing/2014/main" id="{EFB0EB3B-8109-4CFB-9FEC-5B2122BB5643}"/>
              </a:ext>
            </a:extLst>
          </p:cNvPr>
          <p:cNvSpPr>
            <a:spLocks xmlns:a="http://schemas.openxmlformats.org/drawingml/2006/main" noGrp="1"/>
          </p:cNvSpPr>
          <p:nvPr/>
        </p:nvSpPr>
        <p:spPr>
          <a:xfrm xmlns:a="http://schemas.openxmlformats.org/drawingml/2006/main">
            <a:off x="609600" y="1638300"/>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AEB4AC"/>
                </a:solidFill>
              </a:defRPr>
            </a:pPr>
            <a:r>
              <a:rPr sz="1500" b="0">
                <a:solidFill>
                  <a:srgbClr val="AEB4AC"/>
                </a:solidFill>
              </a:rPr>
              <a:t>Pi-reported cost for the complete Phase 2 lane. Account-level reconciliation remains unresolved.</a:t>
            </a:r>
          </a:p>
        </p:txBody>
      </p:sp>
      <p:sp>
        <p:nvSpPr>
          <p:cNvPr id="4" name="cost-label-0">
            <a:extLst xmlns:a="http://schemas.openxmlformats.org/drawingml/2006/main">
              <a:ext uri="{FF2B5EF4-FFF2-40B4-BE49-F238E27FC236}">
                <a16:creationId xmlns:a16="http://schemas.microsoft.com/office/drawing/2014/main" id="{23B782B8-CEA4-4F41-8E69-F2BD54F88791}"/>
              </a:ext>
            </a:extLst>
          </p:cNvPr>
          <p:cNvSpPr>
            <a:spLocks xmlns:a="http://schemas.openxmlformats.org/drawingml/2006/main" noGrp="1"/>
          </p:cNvSpPr>
          <p:nvPr/>
        </p:nvSpPr>
        <p:spPr>
          <a:xfrm xmlns:a="http://schemas.openxmlformats.org/drawingml/2006/main">
            <a:off x="762000" y="23336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Qwen3.8-27B</a:t>
            </a:r>
          </a:p>
        </p:txBody>
      </p:sp>
      <p:sp>
        <p:nvSpPr>
          <p:cNvPr id="5" name="cost-track-0">
            <a:extLst xmlns:a="http://schemas.openxmlformats.org/drawingml/2006/main">
              <a:ext uri="{FF2B5EF4-FFF2-40B4-BE49-F238E27FC236}">
                <a16:creationId xmlns:a16="http://schemas.microsoft.com/office/drawing/2014/main" id="{47E73D2C-3D87-49AE-8149-844BA14EC7B5}"/>
              </a:ext>
            </a:extLst>
          </p:cNvPr>
          <p:cNvSpPr>
            <a:spLocks xmlns:a="http://schemas.openxmlformats.org/drawingml/2006/main" noGrp="1"/>
          </p:cNvSpPr>
          <p:nvPr/>
        </p:nvSpPr>
        <p:spPr>
          <a:xfrm xmlns:a="http://schemas.openxmlformats.org/drawingml/2006/main">
            <a:off x="3000375" y="2352675"/>
            <a:ext cx="5905500" cy="190500"/>
          </a:xfrm>
          <a:prstGeom xmlns:a="http://schemas.openxmlformats.org/drawingml/2006/main" prst="roundRect">
            <a:avLst>
              <a:gd name="adj" fmla="val 50000"/>
            </a:avLst>
          </a:prstGeom>
          <a:solidFill xmlns:a="http://schemas.openxmlformats.org/drawingml/2006/main">
            <a:srgbClr val="303530"/>
          </a:solidFill>
          <a:ln xmlns:a="http://schemas.openxmlformats.org/drawingml/2006/main" w="0">
            <a:noFill/>
            <a:prstDash val="solid"/>
          </a:ln>
        </p:spPr>
      </p:sp>
      <p:sp>
        <p:nvSpPr>
          <p:cNvPr id="6" name="cost-bar-0">
            <a:extLst xmlns:a="http://schemas.openxmlformats.org/drawingml/2006/main">
              <a:ext uri="{FF2B5EF4-FFF2-40B4-BE49-F238E27FC236}">
                <a16:creationId xmlns:a16="http://schemas.microsoft.com/office/drawing/2014/main" id="{6097E3BC-EFD5-4006-87F0-0D8DE3C9E4F9}"/>
              </a:ext>
            </a:extLst>
          </p:cNvPr>
          <p:cNvSpPr>
            <a:spLocks xmlns:a="http://schemas.openxmlformats.org/drawingml/2006/main" noGrp="1"/>
          </p:cNvSpPr>
          <p:nvPr/>
        </p:nvSpPr>
        <p:spPr>
          <a:xfrm xmlns:a="http://schemas.openxmlformats.org/drawingml/2006/main">
            <a:off x="3000375" y="2352675"/>
            <a:ext cx="259297" cy="190500"/>
          </a:xfrm>
          <a:prstGeom xmlns:a="http://schemas.openxmlformats.org/drawingml/2006/main" prst="roundRect">
            <a:avLst>
              <a:gd name="adj" fmla="val 50000"/>
            </a:avLst>
          </a:prstGeom>
          <a:solidFill xmlns:a="http://schemas.openxmlformats.org/drawingml/2006/main">
            <a:srgbClr val="C8FF3D"/>
          </a:solidFill>
          <a:ln xmlns:a="http://schemas.openxmlformats.org/drawingml/2006/main" w="0">
            <a:noFill/>
            <a:prstDash val="solid"/>
          </a:ln>
        </p:spPr>
      </p:sp>
      <p:sp>
        <p:nvSpPr>
          <p:cNvPr id="7" name="cost-value-0">
            <a:extLst xmlns:a="http://schemas.openxmlformats.org/drawingml/2006/main">
              <a:ext uri="{FF2B5EF4-FFF2-40B4-BE49-F238E27FC236}">
                <a16:creationId xmlns:a16="http://schemas.microsoft.com/office/drawing/2014/main" id="{C3CB7741-DCE8-40C1-B450-108FB26C05D2}"/>
              </a:ext>
            </a:extLst>
          </p:cNvPr>
          <p:cNvSpPr>
            <a:spLocks xmlns:a="http://schemas.openxmlformats.org/drawingml/2006/main" noGrp="1"/>
          </p:cNvSpPr>
          <p:nvPr/>
        </p:nvSpPr>
        <p:spPr>
          <a:xfrm xmlns:a="http://schemas.openxmlformats.org/drawingml/2006/main">
            <a:off x="9144000" y="23241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$0.0160</a:t>
            </a:r>
          </a:p>
        </p:txBody>
      </p:sp>
      <p:sp>
        <p:nvSpPr>
          <p:cNvPr id="8" name="cost-label-1">
            <a:extLst xmlns:a="http://schemas.openxmlformats.org/drawingml/2006/main">
              <a:ext uri="{FF2B5EF4-FFF2-40B4-BE49-F238E27FC236}">
                <a16:creationId xmlns:a16="http://schemas.microsoft.com/office/drawing/2014/main" id="{AF6E79F2-7FE5-453B-8E1D-ADE45B8A0A07}"/>
              </a:ext>
            </a:extLst>
          </p:cNvPr>
          <p:cNvSpPr>
            <a:spLocks xmlns:a="http://schemas.openxmlformats.org/drawingml/2006/main" noGrp="1"/>
          </p:cNvSpPr>
          <p:nvPr/>
        </p:nvSpPr>
        <p:spPr>
          <a:xfrm xmlns:a="http://schemas.openxmlformats.org/drawingml/2006/main">
            <a:off x="762000" y="29051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GLM 5.2</a:t>
            </a:r>
          </a:p>
        </p:txBody>
      </p:sp>
      <p:sp>
        <p:nvSpPr>
          <p:cNvPr id="9" name="cost-track-1">
            <a:extLst xmlns:a="http://schemas.openxmlformats.org/drawingml/2006/main">
              <a:ext uri="{FF2B5EF4-FFF2-40B4-BE49-F238E27FC236}">
                <a16:creationId xmlns:a16="http://schemas.microsoft.com/office/drawing/2014/main" id="{F391BF29-2815-4778-A77F-80A0F73D6943}"/>
              </a:ext>
            </a:extLst>
          </p:cNvPr>
          <p:cNvSpPr>
            <a:spLocks xmlns:a="http://schemas.openxmlformats.org/drawingml/2006/main" noGrp="1"/>
          </p:cNvSpPr>
          <p:nvPr/>
        </p:nvSpPr>
        <p:spPr>
          <a:xfrm xmlns:a="http://schemas.openxmlformats.org/drawingml/2006/main">
            <a:off x="3000375" y="2924175"/>
            <a:ext cx="5905500" cy="190500"/>
          </a:xfrm>
          <a:prstGeom xmlns:a="http://schemas.openxmlformats.org/drawingml/2006/main" prst="roundRect">
            <a:avLst>
              <a:gd name="adj" fmla="val 50000"/>
            </a:avLst>
          </a:prstGeom>
          <a:solidFill xmlns:a="http://schemas.openxmlformats.org/drawingml/2006/main">
            <a:srgbClr val="303530"/>
          </a:solidFill>
          <a:ln xmlns:a="http://schemas.openxmlformats.org/drawingml/2006/main" w="0">
            <a:noFill/>
            <a:prstDash val="solid"/>
          </a:ln>
        </p:spPr>
      </p:sp>
      <p:sp>
        <p:nvSpPr>
          <p:cNvPr id="10" name="cost-bar-1">
            <a:extLst xmlns:a="http://schemas.openxmlformats.org/drawingml/2006/main">
              <a:ext uri="{FF2B5EF4-FFF2-40B4-BE49-F238E27FC236}">
                <a16:creationId xmlns:a16="http://schemas.microsoft.com/office/drawing/2014/main" id="{8A35094A-013C-4CE7-AC11-7FCD4CD3C4AE}"/>
              </a:ext>
            </a:extLst>
          </p:cNvPr>
          <p:cNvSpPr>
            <a:spLocks xmlns:a="http://schemas.openxmlformats.org/drawingml/2006/main" noGrp="1"/>
          </p:cNvSpPr>
          <p:nvPr/>
        </p:nvSpPr>
        <p:spPr>
          <a:xfrm xmlns:a="http://schemas.openxmlformats.org/drawingml/2006/main">
            <a:off x="3000375" y="2924175"/>
            <a:ext cx="910782" cy="190500"/>
          </a:xfrm>
          <a:prstGeom xmlns:a="http://schemas.openxmlformats.org/drawingml/2006/main" prst="roundRect">
            <a:avLst>
              <a:gd name="adj" fmla="val 50000"/>
            </a:avLst>
          </a:prstGeom>
          <a:solidFill xmlns:a="http://schemas.openxmlformats.org/drawingml/2006/main">
            <a:srgbClr val="6848D8"/>
          </a:solidFill>
          <a:ln xmlns:a="http://schemas.openxmlformats.org/drawingml/2006/main" w="0">
            <a:noFill/>
            <a:prstDash val="solid"/>
          </a:ln>
        </p:spPr>
      </p:sp>
      <p:sp>
        <p:nvSpPr>
          <p:cNvPr id="11" name="cost-value-1">
            <a:extLst xmlns:a="http://schemas.openxmlformats.org/drawingml/2006/main">
              <a:ext uri="{FF2B5EF4-FFF2-40B4-BE49-F238E27FC236}">
                <a16:creationId xmlns:a16="http://schemas.microsoft.com/office/drawing/2014/main" id="{0F18BC46-B119-4918-93F6-C445D7F66C65}"/>
              </a:ext>
            </a:extLst>
          </p:cNvPr>
          <p:cNvSpPr>
            <a:spLocks xmlns:a="http://schemas.openxmlformats.org/drawingml/2006/main" noGrp="1"/>
          </p:cNvSpPr>
          <p:nvPr/>
        </p:nvSpPr>
        <p:spPr>
          <a:xfrm xmlns:a="http://schemas.openxmlformats.org/drawingml/2006/main">
            <a:off x="9144000" y="2895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$0.0562</a:t>
            </a:r>
          </a:p>
        </p:txBody>
      </p:sp>
      <p:sp>
        <p:nvSpPr>
          <p:cNvPr id="12" name="cost-label-2">
            <a:extLst xmlns:a="http://schemas.openxmlformats.org/drawingml/2006/main">
              <a:ext uri="{FF2B5EF4-FFF2-40B4-BE49-F238E27FC236}">
                <a16:creationId xmlns:a16="http://schemas.microsoft.com/office/drawing/2014/main" id="{D73E7FDE-8403-4535-94C7-635E6328C2F5}"/>
              </a:ext>
            </a:extLst>
          </p:cNvPr>
          <p:cNvSpPr>
            <a:spLocks xmlns:a="http://schemas.openxmlformats.org/drawingml/2006/main" noGrp="1"/>
          </p:cNvSpPr>
          <p:nvPr/>
        </p:nvSpPr>
        <p:spPr>
          <a:xfrm xmlns:a="http://schemas.openxmlformats.org/drawingml/2006/main">
            <a:off x="762000" y="34766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Kimi K3</a:t>
            </a:r>
          </a:p>
        </p:txBody>
      </p:sp>
      <p:sp>
        <p:nvSpPr>
          <p:cNvPr id="13" name="cost-track-2">
            <a:extLst xmlns:a="http://schemas.openxmlformats.org/drawingml/2006/main">
              <a:ext uri="{FF2B5EF4-FFF2-40B4-BE49-F238E27FC236}">
                <a16:creationId xmlns:a16="http://schemas.microsoft.com/office/drawing/2014/main" id="{264B4182-B068-45CD-AF9F-C1F06B704FA2}"/>
              </a:ext>
            </a:extLst>
          </p:cNvPr>
          <p:cNvSpPr>
            <a:spLocks xmlns:a="http://schemas.openxmlformats.org/drawingml/2006/main" noGrp="1"/>
          </p:cNvSpPr>
          <p:nvPr/>
        </p:nvSpPr>
        <p:spPr>
          <a:xfrm xmlns:a="http://schemas.openxmlformats.org/drawingml/2006/main">
            <a:off x="3000375" y="3495675"/>
            <a:ext cx="5905500" cy="190500"/>
          </a:xfrm>
          <a:prstGeom xmlns:a="http://schemas.openxmlformats.org/drawingml/2006/main" prst="roundRect">
            <a:avLst>
              <a:gd name="adj" fmla="val 50000"/>
            </a:avLst>
          </a:prstGeom>
          <a:solidFill xmlns:a="http://schemas.openxmlformats.org/drawingml/2006/main">
            <a:srgbClr val="303530"/>
          </a:solidFill>
          <a:ln xmlns:a="http://schemas.openxmlformats.org/drawingml/2006/main" w="0">
            <a:noFill/>
            <a:prstDash val="solid"/>
          </a:ln>
        </p:spPr>
      </p:sp>
      <p:sp>
        <p:nvSpPr>
          <p:cNvPr id="14" name="cost-bar-2">
            <a:extLst xmlns:a="http://schemas.openxmlformats.org/drawingml/2006/main">
              <a:ext uri="{FF2B5EF4-FFF2-40B4-BE49-F238E27FC236}">
                <a16:creationId xmlns:a16="http://schemas.microsoft.com/office/drawing/2014/main" id="{FC79CB2E-E855-4B34-A194-3A046EC5F8C9}"/>
              </a:ext>
            </a:extLst>
          </p:cNvPr>
          <p:cNvSpPr>
            <a:spLocks xmlns:a="http://schemas.openxmlformats.org/drawingml/2006/main" noGrp="1"/>
          </p:cNvSpPr>
          <p:nvPr/>
        </p:nvSpPr>
        <p:spPr>
          <a:xfrm xmlns:a="http://schemas.openxmlformats.org/drawingml/2006/main">
            <a:off x="3000375" y="3495675"/>
            <a:ext cx="1231663" cy="190500"/>
          </a:xfrm>
          <a:prstGeom xmlns:a="http://schemas.openxmlformats.org/drawingml/2006/main" prst="roundRect">
            <a:avLst>
              <a:gd name="adj" fmla="val 50000"/>
            </a:avLst>
          </a:prstGeom>
          <a:solidFill xmlns:a="http://schemas.openxmlformats.org/drawingml/2006/main">
            <a:srgbClr val="777D75"/>
          </a:solidFill>
          <a:ln xmlns:a="http://schemas.openxmlformats.org/drawingml/2006/main" w="0">
            <a:noFill/>
            <a:prstDash val="solid"/>
          </a:ln>
        </p:spPr>
      </p:sp>
      <p:sp>
        <p:nvSpPr>
          <p:cNvPr id="15" name="cost-value-2">
            <a:extLst xmlns:a="http://schemas.openxmlformats.org/drawingml/2006/main">
              <a:ext uri="{FF2B5EF4-FFF2-40B4-BE49-F238E27FC236}">
                <a16:creationId xmlns:a16="http://schemas.microsoft.com/office/drawing/2014/main" id="{6E2AEE41-EA72-467C-BA28-4267068CBBDC}"/>
              </a:ext>
            </a:extLst>
          </p:cNvPr>
          <p:cNvSpPr>
            <a:spLocks xmlns:a="http://schemas.openxmlformats.org/drawingml/2006/main" noGrp="1"/>
          </p:cNvSpPr>
          <p:nvPr/>
        </p:nvSpPr>
        <p:spPr>
          <a:xfrm xmlns:a="http://schemas.openxmlformats.org/drawingml/2006/main">
            <a:off x="9144000" y="34671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$0.0760</a:t>
            </a:r>
          </a:p>
        </p:txBody>
      </p:sp>
      <p:sp>
        <p:nvSpPr>
          <p:cNvPr id="16" name="cost-label-3">
            <a:extLst xmlns:a="http://schemas.openxmlformats.org/drawingml/2006/main">
              <a:ext uri="{FF2B5EF4-FFF2-40B4-BE49-F238E27FC236}">
                <a16:creationId xmlns:a16="http://schemas.microsoft.com/office/drawing/2014/main" id="{036DE4F5-EC63-4B23-94B7-CC210D4B59E5}"/>
              </a:ext>
            </a:extLst>
          </p:cNvPr>
          <p:cNvSpPr>
            <a:spLocks xmlns:a="http://schemas.openxmlformats.org/drawingml/2006/main" noGrp="1"/>
          </p:cNvSpPr>
          <p:nvPr/>
        </p:nvSpPr>
        <p:spPr>
          <a:xfrm xmlns:a="http://schemas.openxmlformats.org/drawingml/2006/main">
            <a:off x="762000" y="40481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GPT-5.6 Sol</a:t>
            </a:r>
          </a:p>
        </p:txBody>
      </p:sp>
      <p:sp>
        <p:nvSpPr>
          <p:cNvPr id="17" name="cost-track-3">
            <a:extLst xmlns:a="http://schemas.openxmlformats.org/drawingml/2006/main">
              <a:ext uri="{FF2B5EF4-FFF2-40B4-BE49-F238E27FC236}">
                <a16:creationId xmlns:a16="http://schemas.microsoft.com/office/drawing/2014/main" id="{0F87AF63-E730-4BA7-ABAA-16FA683DF9E5}"/>
              </a:ext>
            </a:extLst>
          </p:cNvPr>
          <p:cNvSpPr>
            <a:spLocks xmlns:a="http://schemas.openxmlformats.org/drawingml/2006/main" noGrp="1"/>
          </p:cNvSpPr>
          <p:nvPr/>
        </p:nvSpPr>
        <p:spPr>
          <a:xfrm xmlns:a="http://schemas.openxmlformats.org/drawingml/2006/main">
            <a:off x="3000375" y="4067175"/>
            <a:ext cx="5905500" cy="190500"/>
          </a:xfrm>
          <a:prstGeom xmlns:a="http://schemas.openxmlformats.org/drawingml/2006/main" prst="roundRect">
            <a:avLst>
              <a:gd name="adj" fmla="val 50000"/>
            </a:avLst>
          </a:prstGeom>
          <a:solidFill xmlns:a="http://schemas.openxmlformats.org/drawingml/2006/main">
            <a:srgbClr val="303530"/>
          </a:solidFill>
          <a:ln xmlns:a="http://schemas.openxmlformats.org/drawingml/2006/main" w="0">
            <a:noFill/>
            <a:prstDash val="solid"/>
          </a:ln>
        </p:spPr>
      </p:sp>
      <p:sp>
        <p:nvSpPr>
          <p:cNvPr id="18" name="cost-bar-3">
            <a:extLst xmlns:a="http://schemas.openxmlformats.org/drawingml/2006/main">
              <a:ext uri="{FF2B5EF4-FFF2-40B4-BE49-F238E27FC236}">
                <a16:creationId xmlns:a16="http://schemas.microsoft.com/office/drawing/2014/main" id="{37CB3FEA-BD0D-4930-8B50-A32BE8CA3488}"/>
              </a:ext>
            </a:extLst>
          </p:cNvPr>
          <p:cNvSpPr>
            <a:spLocks xmlns:a="http://schemas.openxmlformats.org/drawingml/2006/main" noGrp="1"/>
          </p:cNvSpPr>
          <p:nvPr/>
        </p:nvSpPr>
        <p:spPr>
          <a:xfrm xmlns:a="http://schemas.openxmlformats.org/drawingml/2006/main">
            <a:off x="3000375" y="4067175"/>
            <a:ext cx="1309452" cy="190500"/>
          </a:xfrm>
          <a:prstGeom xmlns:a="http://schemas.openxmlformats.org/drawingml/2006/main" prst="roundRect">
            <a:avLst>
              <a:gd name="adj" fmla="val 50000"/>
            </a:avLst>
          </a:prstGeom>
          <a:solidFill xmlns:a="http://schemas.openxmlformats.org/drawingml/2006/main">
            <a:srgbClr val="315CFF"/>
          </a:solidFill>
          <a:ln xmlns:a="http://schemas.openxmlformats.org/drawingml/2006/main" w="0">
            <a:noFill/>
            <a:prstDash val="solid"/>
          </a:ln>
        </p:spPr>
      </p:sp>
      <p:sp>
        <p:nvSpPr>
          <p:cNvPr id="19" name="cost-value-3">
            <a:extLst xmlns:a="http://schemas.openxmlformats.org/drawingml/2006/main">
              <a:ext uri="{FF2B5EF4-FFF2-40B4-BE49-F238E27FC236}">
                <a16:creationId xmlns:a16="http://schemas.microsoft.com/office/drawing/2014/main" id="{E9C218F8-34FB-4535-8AFF-28CE90E21DCB}"/>
              </a:ext>
            </a:extLst>
          </p:cNvPr>
          <p:cNvSpPr>
            <a:spLocks xmlns:a="http://schemas.openxmlformats.org/drawingml/2006/main" noGrp="1"/>
          </p:cNvSpPr>
          <p:nvPr/>
        </p:nvSpPr>
        <p:spPr>
          <a:xfrm xmlns:a="http://schemas.openxmlformats.org/drawingml/2006/main">
            <a:off x="9144000" y="4038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$0.0808</a:t>
            </a:r>
          </a:p>
        </p:txBody>
      </p:sp>
      <p:sp>
        <p:nvSpPr>
          <p:cNvPr id="20" name="cost-label-4">
            <a:extLst xmlns:a="http://schemas.openxmlformats.org/drawingml/2006/main">
              <a:ext uri="{FF2B5EF4-FFF2-40B4-BE49-F238E27FC236}">
                <a16:creationId xmlns:a16="http://schemas.microsoft.com/office/drawing/2014/main" id="{4CC98277-9CA1-461F-8687-BE5DDB721C9E}"/>
              </a:ext>
            </a:extLst>
          </p:cNvPr>
          <p:cNvSpPr>
            <a:spLocks xmlns:a="http://schemas.openxmlformats.org/drawingml/2006/main" noGrp="1"/>
          </p:cNvSpPr>
          <p:nvPr/>
        </p:nvSpPr>
        <p:spPr>
          <a:xfrm xmlns:a="http://schemas.openxmlformats.org/drawingml/2006/main">
            <a:off x="762000" y="46196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Claude Fable 5</a:t>
            </a:r>
          </a:p>
        </p:txBody>
      </p:sp>
      <p:sp>
        <p:nvSpPr>
          <p:cNvPr id="21" name="cost-track-4">
            <a:extLst xmlns:a="http://schemas.openxmlformats.org/drawingml/2006/main">
              <a:ext uri="{FF2B5EF4-FFF2-40B4-BE49-F238E27FC236}">
                <a16:creationId xmlns:a16="http://schemas.microsoft.com/office/drawing/2014/main" id="{E6BBC9F9-2872-4FCE-B4CC-5BAA8B6ADB10}"/>
              </a:ext>
            </a:extLst>
          </p:cNvPr>
          <p:cNvSpPr>
            <a:spLocks xmlns:a="http://schemas.openxmlformats.org/drawingml/2006/main" noGrp="1"/>
          </p:cNvSpPr>
          <p:nvPr/>
        </p:nvSpPr>
        <p:spPr>
          <a:xfrm xmlns:a="http://schemas.openxmlformats.org/drawingml/2006/main">
            <a:off x="3000375" y="4638675"/>
            <a:ext cx="5905500" cy="190500"/>
          </a:xfrm>
          <a:prstGeom xmlns:a="http://schemas.openxmlformats.org/drawingml/2006/main" prst="roundRect">
            <a:avLst>
              <a:gd name="adj" fmla="val 50000"/>
            </a:avLst>
          </a:prstGeom>
          <a:solidFill xmlns:a="http://schemas.openxmlformats.org/drawingml/2006/main">
            <a:srgbClr val="303530"/>
          </a:solidFill>
          <a:ln xmlns:a="http://schemas.openxmlformats.org/drawingml/2006/main" w="0">
            <a:noFill/>
            <a:prstDash val="solid"/>
          </a:ln>
        </p:spPr>
      </p:sp>
      <p:sp>
        <p:nvSpPr>
          <p:cNvPr id="22" name="cost-bar-4">
            <a:extLst xmlns:a="http://schemas.openxmlformats.org/drawingml/2006/main">
              <a:ext uri="{FF2B5EF4-FFF2-40B4-BE49-F238E27FC236}">
                <a16:creationId xmlns:a16="http://schemas.microsoft.com/office/drawing/2014/main" id="{0029DF4A-DC4E-430D-B719-059F92F4EDB4}"/>
              </a:ext>
            </a:extLst>
          </p:cNvPr>
          <p:cNvSpPr>
            <a:spLocks xmlns:a="http://schemas.openxmlformats.org/drawingml/2006/main" noGrp="1"/>
          </p:cNvSpPr>
          <p:nvPr/>
        </p:nvSpPr>
        <p:spPr>
          <a:xfrm xmlns:a="http://schemas.openxmlformats.org/drawingml/2006/main">
            <a:off x="3000375" y="4638675"/>
            <a:ext cx="5905500" cy="190500"/>
          </a:xfrm>
          <a:prstGeom xmlns:a="http://schemas.openxmlformats.org/drawingml/2006/main" prst="roundRect">
            <a:avLst>
              <a:gd name="adj" fmla="val 50000"/>
            </a:avLst>
          </a:prstGeom>
          <a:solidFill xmlns:a="http://schemas.openxmlformats.org/drawingml/2006/main">
            <a:srgbClr val="FF5D47"/>
          </a:solidFill>
          <a:ln xmlns:a="http://schemas.openxmlformats.org/drawingml/2006/main" w="0">
            <a:noFill/>
            <a:prstDash val="solid"/>
          </a:ln>
        </p:spPr>
      </p:sp>
      <p:sp>
        <p:nvSpPr>
          <p:cNvPr id="23" name="cost-value-4">
            <a:extLst xmlns:a="http://schemas.openxmlformats.org/drawingml/2006/main">
              <a:ext uri="{FF2B5EF4-FFF2-40B4-BE49-F238E27FC236}">
                <a16:creationId xmlns:a16="http://schemas.microsoft.com/office/drawing/2014/main" id="{F19A9FBB-A945-4AA2-9F93-F0AD305DBB2D}"/>
              </a:ext>
            </a:extLst>
          </p:cNvPr>
          <p:cNvSpPr>
            <a:spLocks xmlns:a="http://schemas.openxmlformats.org/drawingml/2006/main" noGrp="1"/>
          </p:cNvSpPr>
          <p:nvPr/>
        </p:nvSpPr>
        <p:spPr>
          <a:xfrm xmlns:a="http://schemas.openxmlformats.org/drawingml/2006/main">
            <a:off x="9144000" y="46101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BFAF5"/>
                </a:solidFill>
              </a:defRPr>
            </a:pPr>
            <a:r>
              <a:rPr sz="1350" b="1">
                <a:solidFill>
                  <a:srgbClr val="FBFAF5"/>
                </a:solidFill>
              </a:rPr>
              <a:t>$0.3644</a:t>
            </a:r>
          </a:p>
        </p:txBody>
      </p:sp>
      <p:sp>
        <p:nvSpPr>
          <p:cNvPr id="24" name="cost-caveat">
            <a:extLst xmlns:a="http://schemas.openxmlformats.org/drawingml/2006/main">
              <a:ext uri="{FF2B5EF4-FFF2-40B4-BE49-F238E27FC236}">
                <a16:creationId xmlns:a16="http://schemas.microsoft.com/office/drawing/2014/main" id="{42E573B8-E96E-485C-B66C-09256D8529A1}"/>
              </a:ext>
            </a:extLst>
          </p:cNvPr>
          <p:cNvSpPr>
            <a:spLocks xmlns:a="http://schemas.openxmlformats.org/drawingml/2006/main" noGrp="1"/>
          </p:cNvSpPr>
          <p:nvPr/>
        </p:nvSpPr>
        <p:spPr>
          <a:xfrm xmlns:a="http://schemas.openxmlformats.org/drawingml/2006/main">
            <a:off x="762000" y="5410200"/>
            <a:ext cx="10668000" cy="685800"/>
          </a:xfrm>
          <a:prstGeom xmlns:a="http://schemas.openxmlformats.org/drawingml/2006/main" prst="roundRect">
            <a:avLst>
              <a:gd name="adj" fmla="val 16667"/>
            </a:avLst>
          </a:prstGeom>
          <a:solidFill xmlns:a="http://schemas.openxmlformats.org/drawingml/2006/main">
            <a:srgbClr val="1D221D"/>
          </a:solidFill>
          <a:ln xmlns:a="http://schemas.openxmlformats.org/drawingml/2006/main" w="9525">
            <a:solidFill>
              <a:srgbClr val="3C423C"/>
            </a:solidFill>
            <a:prstDash val="solid"/>
          </a:ln>
        </p:spPr>
      </p:sp>
      <p:sp>
        <p:nvSpPr>
          <p:cNvPr id="25" name="cost-caveat-label">
            <a:extLst xmlns:a="http://schemas.openxmlformats.org/drawingml/2006/main">
              <a:ext uri="{FF2B5EF4-FFF2-40B4-BE49-F238E27FC236}">
                <a16:creationId xmlns:a16="http://schemas.microsoft.com/office/drawing/2014/main" id="{1EE59931-E88B-459A-9BE4-A6274E3E6752}"/>
              </a:ext>
            </a:extLst>
          </p:cNvPr>
          <p:cNvSpPr>
            <a:spLocks xmlns:a="http://schemas.openxmlformats.org/drawingml/2006/main" noGrp="1"/>
          </p:cNvSpPr>
          <p:nvPr/>
        </p:nvSpPr>
        <p:spPr>
          <a:xfrm xmlns:a="http://schemas.openxmlformats.org/drawingml/2006/main">
            <a:off x="990600" y="561022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F5D47"/>
                </a:solidFill>
              </a:defRPr>
            </a:pPr>
            <a:r>
              <a:rPr sz="900" b="1">
                <a:solidFill>
                  <a:srgbClr val="FF5D47"/>
                </a:solidFill>
              </a:rPr>
              <a:t>RECONCILIATION CAVEAT</a:t>
            </a:r>
          </a:p>
        </p:txBody>
      </p:sp>
      <p:sp>
        <p:nvSpPr>
          <p:cNvPr id="26" name="cost-caveat-text">
            <a:extLst xmlns:a="http://schemas.openxmlformats.org/drawingml/2006/main">
              <a:ext uri="{FF2B5EF4-FFF2-40B4-BE49-F238E27FC236}">
                <a16:creationId xmlns:a16="http://schemas.microsoft.com/office/drawing/2014/main" id="{E935C3D7-0941-4EE8-8176-F9393A7A8520}"/>
              </a:ext>
            </a:extLst>
          </p:cNvPr>
          <p:cNvSpPr>
            <a:spLocks xmlns:a="http://schemas.openxmlformats.org/drawingml/2006/main" noGrp="1"/>
          </p:cNvSpPr>
          <p:nvPr/>
        </p:nvSpPr>
        <p:spPr>
          <a:xfrm xmlns:a="http://schemas.openxmlformats.org/drawingml/2006/main">
            <a:off x="3276600" y="5543550"/>
            <a:ext cx="771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BFAF5"/>
                </a:solidFill>
              </a:defRPr>
            </a:pPr>
            <a:r>
              <a:rPr sz="1500" b="1">
                <a:solidFill>
                  <a:srgbClr val="FBFAF5"/>
                </a:solidFill>
              </a:rPr>
              <a:t>Saved Pi telemetry: $0.5933  ·  Observed account decrease: about $2.50</a:t>
            </a:r>
          </a:p>
        </p:txBody>
      </p:sp>
      <p:sp>
        <p:nvSpPr>
          <p:cNvPr id="27" name="footer-line-6">
            <a:extLst xmlns:a="http://schemas.openxmlformats.org/drawingml/2006/main">
              <a:ext uri="{FF2B5EF4-FFF2-40B4-BE49-F238E27FC236}">
                <a16:creationId xmlns:a16="http://schemas.microsoft.com/office/drawing/2014/main" id="{48A0EE53-746C-40A9-899D-4FBF1A54C9D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B403B"/>
          </a:solidFill>
          <a:ln xmlns:a="http://schemas.openxmlformats.org/drawingml/2006/main" w="0">
            <a:noFill/>
            <a:prstDash val="solid"/>
          </a:ln>
        </p:spPr>
      </p:sp>
      <p:sp>
        <p:nvSpPr>
          <p:cNvPr id="28" name="footer-brand-6">
            <a:extLst xmlns:a="http://schemas.openxmlformats.org/drawingml/2006/main">
              <a:ext uri="{FF2B5EF4-FFF2-40B4-BE49-F238E27FC236}">
                <a16:creationId xmlns:a16="http://schemas.microsoft.com/office/drawing/2014/main" id="{3112C9B0-A00F-4D13-BC5A-742E227CB3E9}"/>
              </a:ext>
            </a:extLst>
          </p:cNvPr>
          <p:cNvSpPr>
            <a:spLocks xmlns:a="http://schemas.openxmlformats.org/drawingml/2006/main" noGrp="1"/>
          </p:cNvSpPr>
          <p:nvPr/>
        </p:nvSpPr>
        <p:spPr>
          <a:xfrm xmlns:a="http://schemas.openxmlformats.org/drawingml/2006/main">
            <a:off x="609600" y="65532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92988F"/>
                </a:solidFill>
              </a:defRPr>
            </a:pPr>
            <a:r>
              <a:rPr sz="750" b="1">
                <a:solidFill>
                  <a:srgbClr val="92988F"/>
                </a:solidFill>
              </a:rPr>
              <a:t>CODING INTELLIGENCE FIELD STUDY</a:t>
            </a:r>
          </a:p>
        </p:txBody>
      </p:sp>
      <p:sp>
        <p:nvSpPr>
          <p:cNvPr id="29" name="footer-number-6">
            <a:extLst xmlns:a="http://schemas.openxmlformats.org/drawingml/2006/main">
              <a:ext uri="{FF2B5EF4-FFF2-40B4-BE49-F238E27FC236}">
                <a16:creationId xmlns:a16="http://schemas.microsoft.com/office/drawing/2014/main" id="{87306A39-9286-4F58-A1E4-F588101DA93A}"/>
              </a:ext>
            </a:extLst>
          </p:cNvPr>
          <p:cNvSpPr>
            <a:spLocks xmlns:a="http://schemas.openxmlformats.org/drawingml/2006/main" noGrp="1"/>
          </p:cNvSpPr>
          <p:nvPr/>
        </p:nvSpPr>
        <p:spPr>
          <a:xfrm xmlns:a="http://schemas.openxmlformats.org/drawingml/2006/main">
            <a:off x="11125200" y="65532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FBFAF5"/>
                </a:solidFill>
              </a:defRPr>
            </a:pPr>
            <a:r>
              <a:rPr sz="750" b="1">
                <a:solidFill>
                  <a:srgbClr val="FBFAF5"/>
                </a:solidFill>
              </a:rPr>
              <a:t>06</a:t>
            </a:r>
          </a:p>
        </p:txBody>
      </p:sp>
    </p:spTree>
    <p:extLst>
      <p:ext uri="{BB962C8B-B14F-4D97-AF65-F5344CB8AC3E}">
        <p14:creationId xmlns:p14="http://schemas.microsoft.com/office/powerpoint/2010/main" val="2145623991"/>
      </p:ext>
    </p:extLst>
  </p:cSld>
</p:sld>
</file>

<file path=ppt/slides/slide7.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39" name="eyebrow-06 / Distributed workflow">
            <a:extLst xmlns:a="http://schemas.openxmlformats.org/drawingml/2006/main">
              <a:ext uri="{FF2B5EF4-FFF2-40B4-BE49-F238E27FC236}">
                <a16:creationId xmlns:a16="http://schemas.microsoft.com/office/drawing/2014/main" id="{A9F05CA3-F3BA-4568-B8B4-3A18DF296922}"/>
              </a:ext>
            </a:extLst>
          </p:cNvPr>
          <p:cNvSpPr>
            <a:spLocks xmlns:a="http://schemas.openxmlformats.org/drawingml/2006/main" noGrp="1"/>
          </p:cNvSpPr>
          <p:nvPr/>
        </p:nvSpPr>
        <p:spPr>
          <a:xfrm xmlns:a="http://schemas.openxmlformats.org/drawingml/2006/main">
            <a:off x="609600" y="438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15CFF"/>
                </a:solidFill>
              </a:defRPr>
            </a:pPr>
            <a:r>
              <a:rPr sz="975" b="1">
                <a:solidFill>
                  <a:srgbClr val="315CFF"/>
                </a:solidFill>
              </a:rPr>
              <a:t>06 / DISTRIBUTED WORKFLOW</a:t>
            </a:r>
          </a:p>
        </p:txBody>
      </p:sp>
      <p:sp>
        <p:nvSpPr>
          <p:cNvPr id="2" name="title-Distribution bought auditability, not speed.">
            <a:extLst xmlns:a="http://schemas.openxmlformats.org/drawingml/2006/main">
              <a:ext uri="{FF2B5EF4-FFF2-40B4-BE49-F238E27FC236}">
                <a16:creationId xmlns:a16="http://schemas.microsoft.com/office/drawing/2014/main" id="{965AA213-9993-4A09-81FD-358EF7A63B20}"/>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111411"/>
                </a:solidFill>
              </a:defRPr>
            </a:pPr>
            <a:r>
              <a:rPr sz="3300" b="1">
                <a:solidFill>
                  <a:srgbClr val="111411"/>
                </a:solidFill>
              </a:rPr>
              <a:t>Distribution bought auditability, not speed.</a:t>
            </a:r>
          </a:p>
        </p:txBody>
      </p:sp>
      <p:sp>
        <p:nvSpPr>
          <p:cNvPr id="3" name="distributed-subtitle">
            <a:extLst xmlns:a="http://schemas.openxmlformats.org/drawingml/2006/main">
              <a:ext uri="{FF2B5EF4-FFF2-40B4-BE49-F238E27FC236}">
                <a16:creationId xmlns:a16="http://schemas.microsoft.com/office/drawing/2014/main" id="{2FD3B831-DC5B-4D57-AC5D-3C73D53F83F5}"/>
              </a:ext>
            </a:extLst>
          </p:cNvPr>
          <p:cNvSpPr>
            <a:spLocks xmlns:a="http://schemas.openxmlformats.org/drawingml/2006/main" noGrp="1"/>
          </p:cNvSpPr>
          <p:nvPr/>
        </p:nvSpPr>
        <p:spPr>
          <a:xfrm xmlns:a="http://schemas.openxmlformats.org/drawingml/2006/main">
            <a:off x="609600" y="162877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86C65"/>
                </a:solidFill>
              </a:defRPr>
            </a:pPr>
            <a:r>
              <a:rPr sz="1500" b="0">
                <a:solidFill>
                  <a:srgbClr val="686C65"/>
                </a:solidFill>
              </a:rPr>
              <a:t>The multi-assistant route scored 100 with zero frontier repair, but took 3.57x as long as solo Codex.</a:t>
            </a:r>
          </a:p>
        </p:txBody>
      </p:sp>
      <p:sp>
        <p:nvSpPr>
          <p:cNvPr id="4" name="distributed-big">
            <a:extLst xmlns:a="http://schemas.openxmlformats.org/drawingml/2006/main">
              <a:ext uri="{FF2B5EF4-FFF2-40B4-BE49-F238E27FC236}">
                <a16:creationId xmlns:a16="http://schemas.microsoft.com/office/drawing/2014/main" id="{C69DA308-F87F-480F-A676-61AFB740FA74}"/>
              </a:ext>
            </a:extLst>
          </p:cNvPr>
          <p:cNvSpPr>
            <a:spLocks xmlns:a="http://schemas.openxmlformats.org/drawingml/2006/main" noGrp="1"/>
          </p:cNvSpPr>
          <p:nvPr/>
        </p:nvSpPr>
        <p:spPr>
          <a:xfrm xmlns:a="http://schemas.openxmlformats.org/drawingml/2006/main">
            <a:off x="685800" y="2381250"/>
            <a:ext cx="266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150" b="1">
                <a:solidFill>
                  <a:srgbClr val="FF5D47"/>
                </a:solidFill>
              </a:defRPr>
            </a:pPr>
            <a:r>
              <a:rPr sz="6150" b="1">
                <a:solidFill>
                  <a:srgbClr val="FF5D47"/>
                </a:solidFill>
              </a:rPr>
              <a:t>3.57x</a:t>
            </a:r>
          </a:p>
        </p:txBody>
      </p:sp>
      <p:sp>
        <p:nvSpPr>
          <p:cNvPr id="5" name="distributed-big-label">
            <a:extLst xmlns:a="http://schemas.openxmlformats.org/drawingml/2006/main">
              <a:ext uri="{FF2B5EF4-FFF2-40B4-BE49-F238E27FC236}">
                <a16:creationId xmlns:a16="http://schemas.microsoft.com/office/drawing/2014/main" id="{94667D7B-1F9C-4D02-8758-36F8D25CB770}"/>
              </a:ext>
            </a:extLst>
          </p:cNvPr>
          <p:cNvSpPr>
            <a:spLocks xmlns:a="http://schemas.openxmlformats.org/drawingml/2006/main" noGrp="1"/>
          </p:cNvSpPr>
          <p:nvPr/>
        </p:nvSpPr>
        <p:spPr>
          <a:xfrm xmlns:a="http://schemas.openxmlformats.org/drawingml/2006/main">
            <a:off x="742950" y="33909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5D47"/>
                </a:solidFill>
              </a:defRPr>
            </a:pPr>
            <a:r>
              <a:rPr sz="1050" b="1">
                <a:solidFill>
                  <a:srgbClr val="FF5D47"/>
                </a:solidFill>
              </a:rPr>
              <a:t>SLOWER</a:t>
            </a:r>
          </a:p>
        </p:txBody>
      </p:sp>
      <p:sp>
        <p:nvSpPr>
          <p:cNvPr id="6" name="distributed-route-label">
            <a:extLst xmlns:a="http://schemas.openxmlformats.org/drawingml/2006/main">
              <a:ext uri="{FF2B5EF4-FFF2-40B4-BE49-F238E27FC236}">
                <a16:creationId xmlns:a16="http://schemas.microsoft.com/office/drawing/2014/main" id="{82148DC5-2CD6-4FC7-9970-056BE2EE5CAF}"/>
              </a:ext>
            </a:extLst>
          </p:cNvPr>
          <p:cNvSpPr>
            <a:spLocks xmlns:a="http://schemas.openxmlformats.org/drawingml/2006/main" noGrp="1"/>
          </p:cNvSpPr>
          <p:nvPr/>
        </p:nvSpPr>
        <p:spPr>
          <a:xfrm xmlns:a="http://schemas.openxmlformats.org/drawingml/2006/main">
            <a:off x="762000" y="4000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411"/>
                </a:solidFill>
              </a:defRPr>
            </a:pPr>
            <a:r>
              <a:rPr sz="1275" b="1">
                <a:solidFill>
                  <a:srgbClr val="111411"/>
                </a:solidFill>
              </a:rPr>
              <a:t>Distributed</a:t>
            </a:r>
          </a:p>
        </p:txBody>
      </p:sp>
      <p:sp>
        <p:nvSpPr>
          <p:cNvPr id="7" name="distributed-route-track">
            <a:extLst xmlns:a="http://schemas.openxmlformats.org/drawingml/2006/main">
              <a:ext uri="{FF2B5EF4-FFF2-40B4-BE49-F238E27FC236}">
                <a16:creationId xmlns:a16="http://schemas.microsoft.com/office/drawing/2014/main" id="{593E31E7-C0B0-406C-A715-737514688843}"/>
              </a:ext>
            </a:extLst>
          </p:cNvPr>
          <p:cNvSpPr>
            <a:spLocks xmlns:a="http://schemas.openxmlformats.org/drawingml/2006/main" noGrp="1"/>
          </p:cNvSpPr>
          <p:nvPr/>
        </p:nvSpPr>
        <p:spPr>
          <a:xfrm xmlns:a="http://schemas.openxmlformats.org/drawingml/2006/main">
            <a:off x="2381250" y="4010025"/>
            <a:ext cx="5334000" cy="200025"/>
          </a:xfrm>
          <a:prstGeom xmlns:a="http://schemas.openxmlformats.org/drawingml/2006/main" prst="roundRect">
            <a:avLst>
              <a:gd name="adj" fmla="val 50000"/>
            </a:avLst>
          </a:prstGeom>
          <a:solidFill xmlns:a="http://schemas.openxmlformats.org/drawingml/2006/main">
            <a:srgbClr val="E1DED4"/>
          </a:solidFill>
          <a:ln xmlns:a="http://schemas.openxmlformats.org/drawingml/2006/main" w="0">
            <a:noFill/>
            <a:prstDash val="solid"/>
          </a:ln>
        </p:spPr>
      </p:sp>
      <p:sp>
        <p:nvSpPr>
          <p:cNvPr id="8" name="distributed-route-bar">
            <a:extLst xmlns:a="http://schemas.openxmlformats.org/drawingml/2006/main">
              <a:ext uri="{FF2B5EF4-FFF2-40B4-BE49-F238E27FC236}">
                <a16:creationId xmlns:a16="http://schemas.microsoft.com/office/drawing/2014/main" id="{D3B54975-1C2A-46A3-9560-1A0D73A332C3}"/>
              </a:ext>
            </a:extLst>
          </p:cNvPr>
          <p:cNvSpPr>
            <a:spLocks xmlns:a="http://schemas.openxmlformats.org/drawingml/2006/main" noGrp="1"/>
          </p:cNvSpPr>
          <p:nvPr/>
        </p:nvSpPr>
        <p:spPr>
          <a:xfrm xmlns:a="http://schemas.openxmlformats.org/drawingml/2006/main">
            <a:off x="2381250" y="4010025"/>
            <a:ext cx="5334000" cy="200025"/>
          </a:xfrm>
          <a:prstGeom xmlns:a="http://schemas.openxmlformats.org/drawingml/2006/main" prst="roundRect">
            <a:avLst>
              <a:gd name="adj" fmla="val 50000"/>
            </a:avLst>
          </a:prstGeom>
          <a:solidFill xmlns:a="http://schemas.openxmlformats.org/drawingml/2006/main">
            <a:srgbClr val="FF5D47"/>
          </a:solidFill>
          <a:ln xmlns:a="http://schemas.openxmlformats.org/drawingml/2006/main" w="0">
            <a:noFill/>
            <a:prstDash val="solid"/>
          </a:ln>
        </p:spPr>
      </p:sp>
      <p:sp>
        <p:nvSpPr>
          <p:cNvPr id="9" name="distributed-route-value">
            <a:extLst xmlns:a="http://schemas.openxmlformats.org/drawingml/2006/main">
              <a:ext uri="{FF2B5EF4-FFF2-40B4-BE49-F238E27FC236}">
                <a16:creationId xmlns:a16="http://schemas.microsoft.com/office/drawing/2014/main" id="{8B8ED3B2-91F3-4914-86CB-89D2F5C75830}"/>
              </a:ext>
            </a:extLst>
          </p:cNvPr>
          <p:cNvSpPr>
            <a:spLocks xmlns:a="http://schemas.openxmlformats.org/drawingml/2006/main" noGrp="1"/>
          </p:cNvSpPr>
          <p:nvPr/>
        </p:nvSpPr>
        <p:spPr>
          <a:xfrm xmlns:a="http://schemas.openxmlformats.org/drawingml/2006/main">
            <a:off x="7867650" y="39814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411"/>
                </a:solidFill>
              </a:defRPr>
            </a:pPr>
            <a:r>
              <a:rPr sz="1200" b="1">
                <a:solidFill>
                  <a:srgbClr val="111411"/>
                </a:solidFill>
              </a:rPr>
              <a:t>536.704 s</a:t>
            </a:r>
          </a:p>
        </p:txBody>
      </p:sp>
      <p:sp>
        <p:nvSpPr>
          <p:cNvPr id="10" name="solo-route-label">
            <a:extLst xmlns:a="http://schemas.openxmlformats.org/drawingml/2006/main">
              <a:ext uri="{FF2B5EF4-FFF2-40B4-BE49-F238E27FC236}">
                <a16:creationId xmlns:a16="http://schemas.microsoft.com/office/drawing/2014/main" id="{FAE9C4B5-BD94-4588-AF96-7DDFA0D95D18}"/>
              </a:ext>
            </a:extLst>
          </p:cNvPr>
          <p:cNvSpPr>
            <a:spLocks xmlns:a="http://schemas.openxmlformats.org/drawingml/2006/main" noGrp="1"/>
          </p:cNvSpPr>
          <p:nvPr/>
        </p:nvSpPr>
        <p:spPr>
          <a:xfrm xmlns:a="http://schemas.openxmlformats.org/drawingml/2006/main">
            <a:off x="762000" y="45339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411"/>
                </a:solidFill>
              </a:defRPr>
            </a:pPr>
            <a:r>
              <a:rPr sz="1275" b="1">
                <a:solidFill>
                  <a:srgbClr val="111411"/>
                </a:solidFill>
              </a:rPr>
              <a:t>Solo Codex</a:t>
            </a:r>
          </a:p>
        </p:txBody>
      </p:sp>
      <p:sp>
        <p:nvSpPr>
          <p:cNvPr id="11" name="solo-route-track">
            <a:extLst xmlns:a="http://schemas.openxmlformats.org/drawingml/2006/main">
              <a:ext uri="{FF2B5EF4-FFF2-40B4-BE49-F238E27FC236}">
                <a16:creationId xmlns:a16="http://schemas.microsoft.com/office/drawing/2014/main" id="{CE594459-72FE-4B7A-86B0-75AA4DA4DCE5}"/>
              </a:ext>
            </a:extLst>
          </p:cNvPr>
          <p:cNvSpPr>
            <a:spLocks xmlns:a="http://schemas.openxmlformats.org/drawingml/2006/main" noGrp="1"/>
          </p:cNvSpPr>
          <p:nvPr/>
        </p:nvSpPr>
        <p:spPr>
          <a:xfrm xmlns:a="http://schemas.openxmlformats.org/drawingml/2006/main">
            <a:off x="2381250" y="4543425"/>
            <a:ext cx="5334000" cy="200025"/>
          </a:xfrm>
          <a:prstGeom xmlns:a="http://schemas.openxmlformats.org/drawingml/2006/main" prst="roundRect">
            <a:avLst>
              <a:gd name="adj" fmla="val 50000"/>
            </a:avLst>
          </a:prstGeom>
          <a:solidFill xmlns:a="http://schemas.openxmlformats.org/drawingml/2006/main">
            <a:srgbClr val="E1DED4"/>
          </a:solidFill>
          <a:ln xmlns:a="http://schemas.openxmlformats.org/drawingml/2006/main" w="0">
            <a:noFill/>
            <a:prstDash val="solid"/>
          </a:ln>
        </p:spPr>
      </p:sp>
      <p:sp>
        <p:nvSpPr>
          <p:cNvPr id="12" name="solo-route-bar">
            <a:extLst xmlns:a="http://schemas.openxmlformats.org/drawingml/2006/main">
              <a:ext uri="{FF2B5EF4-FFF2-40B4-BE49-F238E27FC236}">
                <a16:creationId xmlns:a16="http://schemas.microsoft.com/office/drawing/2014/main" id="{9EC309B5-7426-43AD-B832-C06EFC638DE3}"/>
              </a:ext>
            </a:extLst>
          </p:cNvPr>
          <p:cNvSpPr>
            <a:spLocks xmlns:a="http://schemas.openxmlformats.org/drawingml/2006/main" noGrp="1"/>
          </p:cNvSpPr>
          <p:nvPr/>
        </p:nvSpPr>
        <p:spPr>
          <a:xfrm xmlns:a="http://schemas.openxmlformats.org/drawingml/2006/main">
            <a:off x="2381250" y="4543425"/>
            <a:ext cx="1493520" cy="200025"/>
          </a:xfrm>
          <a:prstGeom xmlns:a="http://schemas.openxmlformats.org/drawingml/2006/main" prst="roundRect">
            <a:avLst>
              <a:gd name="adj" fmla="val 50000"/>
            </a:avLst>
          </a:prstGeom>
          <a:solidFill xmlns:a="http://schemas.openxmlformats.org/drawingml/2006/main">
            <a:srgbClr val="315CFF"/>
          </a:solidFill>
          <a:ln xmlns:a="http://schemas.openxmlformats.org/drawingml/2006/main" w="0">
            <a:noFill/>
            <a:prstDash val="solid"/>
          </a:ln>
        </p:spPr>
      </p:sp>
      <p:sp>
        <p:nvSpPr>
          <p:cNvPr id="13" name="solo-route-value">
            <a:extLst xmlns:a="http://schemas.openxmlformats.org/drawingml/2006/main">
              <a:ext uri="{FF2B5EF4-FFF2-40B4-BE49-F238E27FC236}">
                <a16:creationId xmlns:a16="http://schemas.microsoft.com/office/drawing/2014/main" id="{03D4D23C-CE5E-4814-B8B1-1DC4262AC3B2}"/>
              </a:ext>
            </a:extLst>
          </p:cNvPr>
          <p:cNvSpPr>
            <a:spLocks xmlns:a="http://schemas.openxmlformats.org/drawingml/2006/main" noGrp="1"/>
          </p:cNvSpPr>
          <p:nvPr/>
        </p:nvSpPr>
        <p:spPr>
          <a:xfrm xmlns:a="http://schemas.openxmlformats.org/drawingml/2006/main">
            <a:off x="7867650" y="45148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411"/>
                </a:solidFill>
              </a:defRPr>
            </a:pPr>
            <a:r>
              <a:rPr sz="1200" b="1">
                <a:solidFill>
                  <a:srgbClr val="111411"/>
                </a:solidFill>
              </a:rPr>
              <a:t>150.206 s</a:t>
            </a:r>
          </a:p>
        </p:txBody>
      </p:sp>
      <p:sp>
        <p:nvSpPr>
          <p:cNvPr id="14" name="flow-step-0">
            <a:extLst xmlns:a="http://schemas.openxmlformats.org/drawingml/2006/main">
              <a:ext uri="{FF2B5EF4-FFF2-40B4-BE49-F238E27FC236}">
                <a16:creationId xmlns:a16="http://schemas.microsoft.com/office/drawing/2014/main" id="{B864FAE0-9485-4654-8FAA-4FBDC0112889}"/>
              </a:ext>
            </a:extLst>
          </p:cNvPr>
          <p:cNvSpPr>
            <a:spLocks xmlns:a="http://schemas.openxmlformats.org/drawingml/2006/main" noGrp="1"/>
          </p:cNvSpPr>
          <p:nvPr/>
        </p:nvSpPr>
        <p:spPr>
          <a:xfrm xmlns:a="http://schemas.openxmlformats.org/drawingml/2006/main">
            <a:off x="4000500" y="26289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315CFF"/>
                </a:solidFill>
              </a:defRPr>
            </a:pPr>
            <a:r>
              <a:rPr sz="750" b="1">
                <a:solidFill>
                  <a:srgbClr val="315CFF"/>
                </a:solidFill>
              </a:rPr>
              <a:t>PLAN</a:t>
            </a:r>
          </a:p>
        </p:txBody>
      </p:sp>
      <p:sp>
        <p:nvSpPr>
          <p:cNvPr id="15" name="flow-box-0">
            <a:extLst xmlns:a="http://schemas.openxmlformats.org/drawingml/2006/main">
              <a:ext uri="{FF2B5EF4-FFF2-40B4-BE49-F238E27FC236}">
                <a16:creationId xmlns:a16="http://schemas.microsoft.com/office/drawing/2014/main" id="{17CB77A4-4B04-492F-849F-731211172EBE}"/>
              </a:ext>
            </a:extLst>
          </p:cNvPr>
          <p:cNvSpPr>
            <a:spLocks xmlns:a="http://schemas.openxmlformats.org/drawingml/2006/main" noGrp="1"/>
          </p:cNvSpPr>
          <p:nvPr/>
        </p:nvSpPr>
        <p:spPr>
          <a:xfrm xmlns:a="http://schemas.openxmlformats.org/drawingml/2006/main">
            <a:off x="4000500" y="2905125"/>
            <a:ext cx="1333500" cy="666750"/>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D4D0C5"/>
            </a:solidFill>
            <a:prstDash val="solid"/>
          </a:ln>
        </p:spPr>
      </p:sp>
      <p:sp>
        <p:nvSpPr>
          <p:cNvPr id="16" name="flow-owner-0">
            <a:extLst xmlns:a="http://schemas.openxmlformats.org/drawingml/2006/main">
              <a:ext uri="{FF2B5EF4-FFF2-40B4-BE49-F238E27FC236}">
                <a16:creationId xmlns:a16="http://schemas.microsoft.com/office/drawing/2014/main" id="{8C28B1D5-6E39-47B6-A1CA-B1A6D593EDBA}"/>
              </a:ext>
            </a:extLst>
          </p:cNvPr>
          <p:cNvSpPr>
            <a:spLocks xmlns:a="http://schemas.openxmlformats.org/drawingml/2006/main" noGrp="1"/>
          </p:cNvSpPr>
          <p:nvPr/>
        </p:nvSpPr>
        <p:spPr>
          <a:xfrm xmlns:a="http://schemas.openxmlformats.org/drawingml/2006/main">
            <a:off x="4076700" y="310515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11411"/>
                </a:solidFill>
              </a:defRPr>
            </a:pPr>
            <a:r>
              <a:rPr sz="1200" b="1">
                <a:solidFill>
                  <a:srgbClr val="111411"/>
                </a:solidFill>
              </a:rPr>
              <a:t>Codex</a:t>
            </a:r>
          </a:p>
        </p:txBody>
      </p:sp>
      <p:sp>
        <p:nvSpPr>
          <p:cNvPr id="17" name="flow-arrow-1">
            <a:extLst xmlns:a="http://schemas.openxmlformats.org/drawingml/2006/main">
              <a:ext uri="{FF2B5EF4-FFF2-40B4-BE49-F238E27FC236}">
                <a16:creationId xmlns:a16="http://schemas.microsoft.com/office/drawing/2014/main" id="{AA6E0B99-427E-4C1B-8AC8-0647CBAD29A5}"/>
              </a:ext>
            </a:extLst>
          </p:cNvPr>
          <p:cNvSpPr>
            <a:spLocks xmlns:a="http://schemas.openxmlformats.org/drawingml/2006/main" noGrp="1"/>
          </p:cNvSpPr>
          <p:nvPr/>
        </p:nvSpPr>
        <p:spPr>
          <a:xfrm xmlns:a="http://schemas.openxmlformats.org/drawingml/2006/main">
            <a:off x="5200650" y="2914650"/>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315CFF"/>
                </a:solidFill>
              </a:defRPr>
            </a:pPr>
            <a:r>
              <a:rPr sz="1650" b="1">
                <a:solidFill>
                  <a:srgbClr val="315CFF"/>
                </a:solidFill>
              </a:rPr>
              <a:t>→</a:t>
            </a:r>
          </a:p>
        </p:txBody>
      </p:sp>
      <p:sp>
        <p:nvSpPr>
          <p:cNvPr id="18" name="flow-step-1">
            <a:extLst xmlns:a="http://schemas.openxmlformats.org/drawingml/2006/main">
              <a:ext uri="{FF2B5EF4-FFF2-40B4-BE49-F238E27FC236}">
                <a16:creationId xmlns:a16="http://schemas.microsoft.com/office/drawing/2014/main" id="{46ED034F-E7F0-446A-8D0C-26A9049C9E17}"/>
              </a:ext>
            </a:extLst>
          </p:cNvPr>
          <p:cNvSpPr>
            <a:spLocks xmlns:a="http://schemas.openxmlformats.org/drawingml/2006/main" noGrp="1"/>
          </p:cNvSpPr>
          <p:nvPr/>
        </p:nvSpPr>
        <p:spPr>
          <a:xfrm xmlns:a="http://schemas.openxmlformats.org/drawingml/2006/main">
            <a:off x="5524500" y="26289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315CFF"/>
                </a:solidFill>
              </a:defRPr>
            </a:pPr>
            <a:r>
              <a:rPr sz="750" b="1">
                <a:solidFill>
                  <a:srgbClr val="315CFF"/>
                </a:solidFill>
              </a:rPr>
              <a:t>CHALLENGE</a:t>
            </a:r>
          </a:p>
        </p:txBody>
      </p:sp>
      <p:sp>
        <p:nvSpPr>
          <p:cNvPr id="19" name="flow-box-1">
            <a:extLst xmlns:a="http://schemas.openxmlformats.org/drawingml/2006/main">
              <a:ext uri="{FF2B5EF4-FFF2-40B4-BE49-F238E27FC236}">
                <a16:creationId xmlns:a16="http://schemas.microsoft.com/office/drawing/2014/main" id="{F6A6A241-94E3-48CF-AEF8-6F90AE8DD94D}"/>
              </a:ext>
            </a:extLst>
          </p:cNvPr>
          <p:cNvSpPr>
            <a:spLocks xmlns:a="http://schemas.openxmlformats.org/drawingml/2006/main" noGrp="1"/>
          </p:cNvSpPr>
          <p:nvPr/>
        </p:nvSpPr>
        <p:spPr>
          <a:xfrm xmlns:a="http://schemas.openxmlformats.org/drawingml/2006/main">
            <a:off x="5524500" y="2905125"/>
            <a:ext cx="1333500" cy="666750"/>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D4D0C5"/>
            </a:solidFill>
            <a:prstDash val="solid"/>
          </a:ln>
        </p:spPr>
      </p:sp>
      <p:sp>
        <p:nvSpPr>
          <p:cNvPr id="20" name="flow-owner-1">
            <a:extLst xmlns:a="http://schemas.openxmlformats.org/drawingml/2006/main">
              <a:ext uri="{FF2B5EF4-FFF2-40B4-BE49-F238E27FC236}">
                <a16:creationId xmlns:a16="http://schemas.microsoft.com/office/drawing/2014/main" id="{C6C5A265-8DDF-4CD0-9860-14533729D48E}"/>
              </a:ext>
            </a:extLst>
          </p:cNvPr>
          <p:cNvSpPr>
            <a:spLocks xmlns:a="http://schemas.openxmlformats.org/drawingml/2006/main" noGrp="1"/>
          </p:cNvSpPr>
          <p:nvPr/>
        </p:nvSpPr>
        <p:spPr>
          <a:xfrm xmlns:a="http://schemas.openxmlformats.org/drawingml/2006/main">
            <a:off x="5600700" y="310515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11411"/>
                </a:solidFill>
              </a:defRPr>
            </a:pPr>
            <a:r>
              <a:rPr sz="1200" b="1">
                <a:solidFill>
                  <a:srgbClr val="111411"/>
                </a:solidFill>
              </a:rPr>
              <a:t>Claude</a:t>
            </a:r>
          </a:p>
        </p:txBody>
      </p:sp>
      <p:sp>
        <p:nvSpPr>
          <p:cNvPr id="21" name="flow-arrow-2">
            <a:extLst xmlns:a="http://schemas.openxmlformats.org/drawingml/2006/main">
              <a:ext uri="{FF2B5EF4-FFF2-40B4-BE49-F238E27FC236}">
                <a16:creationId xmlns:a16="http://schemas.microsoft.com/office/drawing/2014/main" id="{2BFC84D4-7C02-4333-B42F-FA50F82D772C}"/>
              </a:ext>
            </a:extLst>
          </p:cNvPr>
          <p:cNvSpPr>
            <a:spLocks xmlns:a="http://schemas.openxmlformats.org/drawingml/2006/main" noGrp="1"/>
          </p:cNvSpPr>
          <p:nvPr/>
        </p:nvSpPr>
        <p:spPr>
          <a:xfrm xmlns:a="http://schemas.openxmlformats.org/drawingml/2006/main">
            <a:off x="6724650" y="2914650"/>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315CFF"/>
                </a:solidFill>
              </a:defRPr>
            </a:pPr>
            <a:r>
              <a:rPr sz="1650" b="1">
                <a:solidFill>
                  <a:srgbClr val="315CFF"/>
                </a:solidFill>
              </a:rPr>
              <a:t>→</a:t>
            </a:r>
          </a:p>
        </p:txBody>
      </p:sp>
      <p:sp>
        <p:nvSpPr>
          <p:cNvPr id="22" name="flow-step-2">
            <a:extLst xmlns:a="http://schemas.openxmlformats.org/drawingml/2006/main">
              <a:ext uri="{FF2B5EF4-FFF2-40B4-BE49-F238E27FC236}">
                <a16:creationId xmlns:a16="http://schemas.microsoft.com/office/drawing/2014/main" id="{B664FC07-F8C7-48A1-9931-1265542F78F0}"/>
              </a:ext>
            </a:extLst>
          </p:cNvPr>
          <p:cNvSpPr>
            <a:spLocks xmlns:a="http://schemas.openxmlformats.org/drawingml/2006/main" noGrp="1"/>
          </p:cNvSpPr>
          <p:nvPr/>
        </p:nvSpPr>
        <p:spPr>
          <a:xfrm xmlns:a="http://schemas.openxmlformats.org/drawingml/2006/main">
            <a:off x="7048500" y="26289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315CFF"/>
                </a:solidFill>
              </a:defRPr>
            </a:pPr>
            <a:r>
              <a:rPr sz="750" b="1">
                <a:solidFill>
                  <a:srgbClr val="315CFF"/>
                </a:solidFill>
              </a:rPr>
              <a:t>BUILD</a:t>
            </a:r>
          </a:p>
        </p:txBody>
      </p:sp>
      <p:sp>
        <p:nvSpPr>
          <p:cNvPr id="23" name="flow-box-2">
            <a:extLst xmlns:a="http://schemas.openxmlformats.org/drawingml/2006/main">
              <a:ext uri="{FF2B5EF4-FFF2-40B4-BE49-F238E27FC236}">
                <a16:creationId xmlns:a16="http://schemas.microsoft.com/office/drawing/2014/main" id="{E6E4E6C2-9C47-40BC-8CC6-FF415BA10BE1}"/>
              </a:ext>
            </a:extLst>
          </p:cNvPr>
          <p:cNvSpPr>
            <a:spLocks xmlns:a="http://schemas.openxmlformats.org/drawingml/2006/main" noGrp="1"/>
          </p:cNvSpPr>
          <p:nvPr/>
        </p:nvSpPr>
        <p:spPr>
          <a:xfrm xmlns:a="http://schemas.openxmlformats.org/drawingml/2006/main">
            <a:off x="7048500" y="2905125"/>
            <a:ext cx="1333500" cy="666750"/>
          </a:xfrm>
          <a:prstGeom xmlns:a="http://schemas.openxmlformats.org/drawingml/2006/main" prst="roundRect">
            <a:avLst>
              <a:gd name="adj" fmla="val 17143"/>
            </a:avLst>
          </a:prstGeom>
          <a:solidFill xmlns:a="http://schemas.openxmlformats.org/drawingml/2006/main">
            <a:srgbClr val="EFFFCA"/>
          </a:solidFill>
          <a:ln xmlns:a="http://schemas.openxmlformats.org/drawingml/2006/main" w="9525">
            <a:solidFill>
              <a:srgbClr val="D4D0C5"/>
            </a:solidFill>
            <a:prstDash val="solid"/>
          </a:ln>
        </p:spPr>
      </p:sp>
      <p:sp>
        <p:nvSpPr>
          <p:cNvPr id="24" name="flow-owner-2">
            <a:extLst xmlns:a="http://schemas.openxmlformats.org/drawingml/2006/main">
              <a:ext uri="{FF2B5EF4-FFF2-40B4-BE49-F238E27FC236}">
                <a16:creationId xmlns:a16="http://schemas.microsoft.com/office/drawing/2014/main" id="{713C66DB-2000-48F5-8590-93CB234880EE}"/>
              </a:ext>
            </a:extLst>
          </p:cNvPr>
          <p:cNvSpPr>
            <a:spLocks xmlns:a="http://schemas.openxmlformats.org/drawingml/2006/main" noGrp="1"/>
          </p:cNvSpPr>
          <p:nvPr/>
        </p:nvSpPr>
        <p:spPr>
          <a:xfrm xmlns:a="http://schemas.openxmlformats.org/drawingml/2006/main">
            <a:off x="7124700" y="310515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11411"/>
                </a:solidFill>
              </a:defRPr>
            </a:pPr>
            <a:r>
              <a:rPr sz="1200" b="1">
                <a:solidFill>
                  <a:srgbClr val="111411"/>
                </a:solidFill>
              </a:rPr>
              <a:t>OpenCode + Kimi</a:t>
            </a:r>
          </a:p>
        </p:txBody>
      </p:sp>
      <p:sp>
        <p:nvSpPr>
          <p:cNvPr id="25" name="flow-arrow-3">
            <a:extLst xmlns:a="http://schemas.openxmlformats.org/drawingml/2006/main">
              <a:ext uri="{FF2B5EF4-FFF2-40B4-BE49-F238E27FC236}">
                <a16:creationId xmlns:a16="http://schemas.microsoft.com/office/drawing/2014/main" id="{544DFF13-3AB9-4B57-86C8-28B1B24A862C}"/>
              </a:ext>
            </a:extLst>
          </p:cNvPr>
          <p:cNvSpPr>
            <a:spLocks xmlns:a="http://schemas.openxmlformats.org/drawingml/2006/main" noGrp="1"/>
          </p:cNvSpPr>
          <p:nvPr/>
        </p:nvSpPr>
        <p:spPr>
          <a:xfrm xmlns:a="http://schemas.openxmlformats.org/drawingml/2006/main">
            <a:off x="8248650" y="2914650"/>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315CFF"/>
                </a:solidFill>
              </a:defRPr>
            </a:pPr>
            <a:r>
              <a:rPr sz="1650" b="1">
                <a:solidFill>
                  <a:srgbClr val="315CFF"/>
                </a:solidFill>
              </a:rPr>
              <a:t>→</a:t>
            </a:r>
          </a:p>
        </p:txBody>
      </p:sp>
      <p:sp>
        <p:nvSpPr>
          <p:cNvPr id="26" name="flow-step-3">
            <a:extLst xmlns:a="http://schemas.openxmlformats.org/drawingml/2006/main">
              <a:ext uri="{FF2B5EF4-FFF2-40B4-BE49-F238E27FC236}">
                <a16:creationId xmlns:a16="http://schemas.microsoft.com/office/drawing/2014/main" id="{4C903AE2-511E-4951-9B77-DD96142247C9}"/>
              </a:ext>
            </a:extLst>
          </p:cNvPr>
          <p:cNvSpPr>
            <a:spLocks xmlns:a="http://schemas.openxmlformats.org/drawingml/2006/main" noGrp="1"/>
          </p:cNvSpPr>
          <p:nvPr/>
        </p:nvSpPr>
        <p:spPr>
          <a:xfrm xmlns:a="http://schemas.openxmlformats.org/drawingml/2006/main">
            <a:off x="8572500" y="26289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315CFF"/>
                </a:solidFill>
              </a:defRPr>
            </a:pPr>
            <a:r>
              <a:rPr sz="750" b="1">
                <a:solidFill>
                  <a:srgbClr val="315CFF"/>
                </a:solidFill>
              </a:rPr>
              <a:t>INTEGRATE</a:t>
            </a:r>
          </a:p>
        </p:txBody>
      </p:sp>
      <p:sp>
        <p:nvSpPr>
          <p:cNvPr id="27" name="flow-box-3">
            <a:extLst xmlns:a="http://schemas.openxmlformats.org/drawingml/2006/main">
              <a:ext uri="{FF2B5EF4-FFF2-40B4-BE49-F238E27FC236}">
                <a16:creationId xmlns:a16="http://schemas.microsoft.com/office/drawing/2014/main" id="{FD16ECE3-604A-4861-B09F-1D23F69D42D6}"/>
              </a:ext>
            </a:extLst>
          </p:cNvPr>
          <p:cNvSpPr>
            <a:spLocks xmlns:a="http://schemas.openxmlformats.org/drawingml/2006/main" noGrp="1"/>
          </p:cNvSpPr>
          <p:nvPr/>
        </p:nvSpPr>
        <p:spPr>
          <a:xfrm xmlns:a="http://schemas.openxmlformats.org/drawingml/2006/main">
            <a:off x="8572500" y="2905125"/>
            <a:ext cx="1333500" cy="666750"/>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D4D0C5"/>
            </a:solidFill>
            <a:prstDash val="solid"/>
          </a:ln>
        </p:spPr>
      </p:sp>
      <p:sp>
        <p:nvSpPr>
          <p:cNvPr id="28" name="flow-owner-3">
            <a:extLst xmlns:a="http://schemas.openxmlformats.org/drawingml/2006/main">
              <a:ext uri="{FF2B5EF4-FFF2-40B4-BE49-F238E27FC236}">
                <a16:creationId xmlns:a16="http://schemas.microsoft.com/office/drawing/2014/main" id="{64583B6B-7678-4D37-B53A-04A334EDC3AD}"/>
              </a:ext>
            </a:extLst>
          </p:cNvPr>
          <p:cNvSpPr>
            <a:spLocks xmlns:a="http://schemas.openxmlformats.org/drawingml/2006/main" noGrp="1"/>
          </p:cNvSpPr>
          <p:nvPr/>
        </p:nvSpPr>
        <p:spPr>
          <a:xfrm xmlns:a="http://schemas.openxmlformats.org/drawingml/2006/main">
            <a:off x="8648700" y="310515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11411"/>
                </a:solidFill>
              </a:defRPr>
            </a:pPr>
            <a:r>
              <a:rPr sz="1200" b="1">
                <a:solidFill>
                  <a:srgbClr val="111411"/>
                </a:solidFill>
              </a:rPr>
              <a:t>Codex</a:t>
            </a:r>
          </a:p>
        </p:txBody>
      </p:sp>
      <p:sp>
        <p:nvSpPr>
          <p:cNvPr id="29" name="flow-arrow-4">
            <a:extLst xmlns:a="http://schemas.openxmlformats.org/drawingml/2006/main">
              <a:ext uri="{FF2B5EF4-FFF2-40B4-BE49-F238E27FC236}">
                <a16:creationId xmlns:a16="http://schemas.microsoft.com/office/drawing/2014/main" id="{44D714EB-D38D-49D4-8A9D-61BCA5EBA15B}"/>
              </a:ext>
            </a:extLst>
          </p:cNvPr>
          <p:cNvSpPr>
            <a:spLocks xmlns:a="http://schemas.openxmlformats.org/drawingml/2006/main" noGrp="1"/>
          </p:cNvSpPr>
          <p:nvPr/>
        </p:nvSpPr>
        <p:spPr>
          <a:xfrm xmlns:a="http://schemas.openxmlformats.org/drawingml/2006/main">
            <a:off x="9772650" y="2914650"/>
            <a:ext cx="28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315CFF"/>
                </a:solidFill>
              </a:defRPr>
            </a:pPr>
            <a:r>
              <a:rPr sz="1650" b="1">
                <a:solidFill>
                  <a:srgbClr val="315CFF"/>
                </a:solidFill>
              </a:rPr>
              <a:t>→</a:t>
            </a:r>
          </a:p>
        </p:txBody>
      </p:sp>
      <p:sp>
        <p:nvSpPr>
          <p:cNvPr id="30" name="flow-step-4">
            <a:extLst xmlns:a="http://schemas.openxmlformats.org/drawingml/2006/main">
              <a:ext uri="{FF2B5EF4-FFF2-40B4-BE49-F238E27FC236}">
                <a16:creationId xmlns:a16="http://schemas.microsoft.com/office/drawing/2014/main" id="{757297EB-75C1-4A31-BA94-32DAE19157AF}"/>
              </a:ext>
            </a:extLst>
          </p:cNvPr>
          <p:cNvSpPr>
            <a:spLocks xmlns:a="http://schemas.openxmlformats.org/drawingml/2006/main" noGrp="1"/>
          </p:cNvSpPr>
          <p:nvPr/>
        </p:nvSpPr>
        <p:spPr>
          <a:xfrm xmlns:a="http://schemas.openxmlformats.org/drawingml/2006/main">
            <a:off x="10096500" y="26289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315CFF"/>
                </a:solidFill>
              </a:defRPr>
            </a:pPr>
            <a:r>
              <a:rPr sz="750" b="1">
                <a:solidFill>
                  <a:srgbClr val="315CFF"/>
                </a:solidFill>
              </a:rPr>
              <a:t>REVIEW</a:t>
            </a:r>
          </a:p>
        </p:txBody>
      </p:sp>
      <p:sp>
        <p:nvSpPr>
          <p:cNvPr id="31" name="flow-box-4">
            <a:extLst xmlns:a="http://schemas.openxmlformats.org/drawingml/2006/main">
              <a:ext uri="{FF2B5EF4-FFF2-40B4-BE49-F238E27FC236}">
                <a16:creationId xmlns:a16="http://schemas.microsoft.com/office/drawing/2014/main" id="{6C07BAB5-6D42-4672-AE19-253F667520C5}"/>
              </a:ext>
            </a:extLst>
          </p:cNvPr>
          <p:cNvSpPr>
            <a:spLocks xmlns:a="http://schemas.openxmlformats.org/drawingml/2006/main" noGrp="1"/>
          </p:cNvSpPr>
          <p:nvPr/>
        </p:nvSpPr>
        <p:spPr>
          <a:xfrm xmlns:a="http://schemas.openxmlformats.org/drawingml/2006/main">
            <a:off x="10096500" y="2905125"/>
            <a:ext cx="1333500" cy="666750"/>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D4D0C5"/>
            </a:solidFill>
            <a:prstDash val="solid"/>
          </a:ln>
        </p:spPr>
      </p:sp>
      <p:sp>
        <p:nvSpPr>
          <p:cNvPr id="32" name="flow-owner-4">
            <a:extLst xmlns:a="http://schemas.openxmlformats.org/drawingml/2006/main">
              <a:ext uri="{FF2B5EF4-FFF2-40B4-BE49-F238E27FC236}">
                <a16:creationId xmlns:a16="http://schemas.microsoft.com/office/drawing/2014/main" id="{A7F21878-55AC-4F2F-9929-DB8B01B8624D}"/>
              </a:ext>
            </a:extLst>
          </p:cNvPr>
          <p:cNvSpPr>
            <a:spLocks xmlns:a="http://schemas.openxmlformats.org/drawingml/2006/main" noGrp="1"/>
          </p:cNvSpPr>
          <p:nvPr/>
        </p:nvSpPr>
        <p:spPr>
          <a:xfrm xmlns:a="http://schemas.openxmlformats.org/drawingml/2006/main">
            <a:off x="10172700" y="310515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11411"/>
                </a:solidFill>
              </a:defRPr>
            </a:pPr>
            <a:r>
              <a:rPr sz="1200" b="1">
                <a:solidFill>
                  <a:srgbClr val="111411"/>
                </a:solidFill>
              </a:rPr>
              <a:t>Claude</a:t>
            </a:r>
          </a:p>
        </p:txBody>
      </p:sp>
      <p:sp>
        <p:nvSpPr>
          <p:cNvPr id="33" name="distributed-decision">
            <a:extLst xmlns:a="http://schemas.openxmlformats.org/drawingml/2006/main">
              <a:ext uri="{FF2B5EF4-FFF2-40B4-BE49-F238E27FC236}">
                <a16:creationId xmlns:a16="http://schemas.microsoft.com/office/drawing/2014/main" id="{0BB13796-AAAA-4744-A72F-50652D1EE8BB}"/>
              </a:ext>
            </a:extLst>
          </p:cNvPr>
          <p:cNvSpPr>
            <a:spLocks xmlns:a="http://schemas.openxmlformats.org/drawingml/2006/main" noGrp="1"/>
          </p:cNvSpPr>
          <p:nvPr/>
        </p:nvSpPr>
        <p:spPr>
          <a:xfrm xmlns:a="http://schemas.openxmlformats.org/drawingml/2006/main">
            <a:off x="685800" y="5391150"/>
            <a:ext cx="10744200" cy="685800"/>
          </a:xfrm>
          <a:prstGeom xmlns:a="http://schemas.openxmlformats.org/drawingml/2006/main" prst="roundRect">
            <a:avLst>
              <a:gd name="adj" fmla="val 16667"/>
            </a:avLst>
          </a:prstGeom>
          <a:solidFill xmlns:a="http://schemas.openxmlformats.org/drawingml/2006/main">
            <a:srgbClr val="EFFFCA"/>
          </a:solidFill>
          <a:ln xmlns:a="http://schemas.openxmlformats.org/drawingml/2006/main" w="0">
            <a:noFill/>
            <a:prstDash val="solid"/>
          </a:ln>
        </p:spPr>
      </p:sp>
      <p:sp>
        <p:nvSpPr>
          <p:cNvPr id="34" name="distributed-decision-label">
            <a:extLst xmlns:a="http://schemas.openxmlformats.org/drawingml/2006/main">
              <a:ext uri="{FF2B5EF4-FFF2-40B4-BE49-F238E27FC236}">
                <a16:creationId xmlns:a16="http://schemas.microsoft.com/office/drawing/2014/main" id="{C14313F9-D472-4860-8D92-89D306783CA7}"/>
              </a:ext>
            </a:extLst>
          </p:cNvPr>
          <p:cNvSpPr>
            <a:spLocks xmlns:a="http://schemas.openxmlformats.org/drawingml/2006/main" noGrp="1"/>
          </p:cNvSpPr>
          <p:nvPr/>
        </p:nvSpPr>
        <p:spPr>
          <a:xfrm xmlns:a="http://schemas.openxmlformats.org/drawingml/2006/main">
            <a:off x="914400" y="561022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15CFF"/>
                </a:solidFill>
              </a:defRPr>
            </a:pPr>
            <a:r>
              <a:rPr sz="900" b="1">
                <a:solidFill>
                  <a:srgbClr val="315CFF"/>
                </a:solidFill>
              </a:rPr>
              <a:t>DECISION</a:t>
            </a:r>
          </a:p>
        </p:txBody>
      </p:sp>
      <p:sp>
        <p:nvSpPr>
          <p:cNvPr id="35" name="distributed-decision-text">
            <a:extLst xmlns:a="http://schemas.openxmlformats.org/drawingml/2006/main">
              <a:ext uri="{FF2B5EF4-FFF2-40B4-BE49-F238E27FC236}">
                <a16:creationId xmlns:a16="http://schemas.microsoft.com/office/drawing/2014/main" id="{11E66D30-4AAB-4EAF-8CFD-C7A169255251}"/>
              </a:ext>
            </a:extLst>
          </p:cNvPr>
          <p:cNvSpPr>
            <a:spLocks xmlns:a="http://schemas.openxmlformats.org/drawingml/2006/main" noGrp="1"/>
          </p:cNvSpPr>
          <p:nvPr/>
        </p:nvSpPr>
        <p:spPr>
          <a:xfrm xmlns:a="http://schemas.openxmlformats.org/drawingml/2006/main">
            <a:off x="2190750" y="55245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411"/>
                </a:solidFill>
              </a:defRPr>
            </a:pPr>
            <a:r>
              <a:rPr sz="1500" b="1">
                <a:solidFill>
                  <a:srgbClr val="111411"/>
                </a:solidFill>
              </a:rPr>
              <a:t>Distribute only when independent challenge or ownership separation justifies the coordination cost.</a:t>
            </a:r>
          </a:p>
        </p:txBody>
      </p:sp>
      <p:sp>
        <p:nvSpPr>
          <p:cNvPr id="36" name="footer-line-7">
            <a:extLst xmlns:a="http://schemas.openxmlformats.org/drawingml/2006/main">
              <a:ext uri="{FF2B5EF4-FFF2-40B4-BE49-F238E27FC236}">
                <a16:creationId xmlns:a16="http://schemas.microsoft.com/office/drawing/2014/main" id="{9F6EB73F-2BEA-4FEF-9AA6-5417B5AF186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4D0C5"/>
          </a:solidFill>
          <a:ln xmlns:a="http://schemas.openxmlformats.org/drawingml/2006/main" w="0">
            <a:noFill/>
            <a:prstDash val="solid"/>
          </a:ln>
        </p:spPr>
      </p:sp>
      <p:sp>
        <p:nvSpPr>
          <p:cNvPr id="37" name="footer-brand-7">
            <a:extLst xmlns:a="http://schemas.openxmlformats.org/drawingml/2006/main">
              <a:ext uri="{FF2B5EF4-FFF2-40B4-BE49-F238E27FC236}">
                <a16:creationId xmlns:a16="http://schemas.microsoft.com/office/drawing/2014/main" id="{EE9F234A-004A-4C10-B983-8AE495691AE7}"/>
              </a:ext>
            </a:extLst>
          </p:cNvPr>
          <p:cNvSpPr>
            <a:spLocks xmlns:a="http://schemas.openxmlformats.org/drawingml/2006/main" noGrp="1"/>
          </p:cNvSpPr>
          <p:nvPr/>
        </p:nvSpPr>
        <p:spPr>
          <a:xfrm xmlns:a="http://schemas.openxmlformats.org/drawingml/2006/main">
            <a:off x="609600" y="65532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686C65"/>
                </a:solidFill>
              </a:defRPr>
            </a:pPr>
            <a:r>
              <a:rPr sz="750" b="1">
                <a:solidFill>
                  <a:srgbClr val="686C65"/>
                </a:solidFill>
              </a:rPr>
              <a:t>CODING INTELLIGENCE FIELD STUDY</a:t>
            </a:r>
          </a:p>
        </p:txBody>
      </p:sp>
      <p:sp>
        <p:nvSpPr>
          <p:cNvPr id="38" name="footer-number-7">
            <a:extLst xmlns:a="http://schemas.openxmlformats.org/drawingml/2006/main">
              <a:ext uri="{FF2B5EF4-FFF2-40B4-BE49-F238E27FC236}">
                <a16:creationId xmlns:a16="http://schemas.microsoft.com/office/drawing/2014/main" id="{A2D65050-D2F9-4DC0-B343-B3A7DC59B464}"/>
              </a:ext>
            </a:extLst>
          </p:cNvPr>
          <p:cNvSpPr>
            <a:spLocks xmlns:a="http://schemas.openxmlformats.org/drawingml/2006/main" noGrp="1"/>
          </p:cNvSpPr>
          <p:nvPr/>
        </p:nvSpPr>
        <p:spPr>
          <a:xfrm xmlns:a="http://schemas.openxmlformats.org/drawingml/2006/main">
            <a:off x="11125200" y="65532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111411"/>
                </a:solidFill>
              </a:defRPr>
            </a:pPr>
            <a:r>
              <a:rPr sz="750" b="1">
                <a:solidFill>
                  <a:srgbClr val="111411"/>
                </a:solidFill>
              </a:rPr>
              <a:t>07</a:t>
            </a:r>
          </a:p>
        </p:txBody>
      </p:sp>
    </p:spTree>
    <p:extLst>
      <p:ext uri="{BB962C8B-B14F-4D97-AF65-F5344CB8AC3E}">
        <p14:creationId xmlns:p14="http://schemas.microsoft.com/office/powerpoint/2010/main" val="290333674"/>
      </p:ext>
    </p:extLst>
  </p:cSld>
</p:sld>
</file>

<file path=ppt/slides/slide8.xml><?xml version="1.0" encoding="utf-8"?>
<p:sld xmlns:p="http://schemas.openxmlformats.org/presentationml/2006/main">
  <p:cSld>
    <p:bg>
      <p:bgPr>
        <a:solidFill xmlns:a="http://schemas.openxmlformats.org/drawingml/2006/main">
          <a:srgbClr val="11141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a7a4558b5bb4dcc"/>
          <a:srcRect xmlns:a="http://schemas.openxmlformats.org/drawingml/2006/main" l="19922" t="0" r="19922" b="0"/>
          <a:stretch xmlns:a="http://schemas.openxmlformats.org/drawingml/2006/main">
            <a:fillRect l="0" t="0" r="0" b="0"/>
          </a:stretch>
        </p:blipFill>
        <p:spPr>
          <a:xfrm xmlns:a="http://schemas.openxmlformats.org/drawingml/2006/main">
            <a:off x="4857750" y="0"/>
            <a:ext cx="7334250" cy="6858000"/>
          </a:xfrm>
          <a:prstGeom xmlns:a="http://schemas.openxmlformats.org/drawingml/2006/main" prst="rect">
            <a:avLst/>
          </a:prstGeom>
        </p:spPr>
      </p:pic>
      <p:sp>
        <p:nvSpPr>
          <p:cNvPr id="2" name="trade-overlay">
            <a:extLst xmlns:a="http://schemas.openxmlformats.org/drawingml/2006/main">
              <a:ext uri="{FF2B5EF4-FFF2-40B4-BE49-F238E27FC236}">
                <a16:creationId xmlns:a16="http://schemas.microsoft.com/office/drawing/2014/main" id="{9F8A4EAE-8AB5-414A-8849-AEFA730886B6}"/>
              </a:ext>
            </a:extLst>
          </p:cNvPr>
          <p:cNvSpPr>
            <a:spLocks xmlns:a="http://schemas.openxmlformats.org/drawingml/2006/main" noGrp="1"/>
          </p:cNvSpPr>
          <p:nvPr/>
        </p:nvSpPr>
        <p:spPr>
          <a:xfrm xmlns:a="http://schemas.openxmlformats.org/drawingml/2006/main">
            <a:off x="0" y="0"/>
            <a:ext cx="5334000" cy="6858000"/>
          </a:xfrm>
          <a:prstGeom xmlns:a="http://schemas.openxmlformats.org/drawingml/2006/main" prst="rect">
            <a:avLst/>
          </a:prstGeom>
          <a:solidFill xmlns:a="http://schemas.openxmlformats.org/drawingml/2006/main">
            <a:srgbClr val="111411"/>
          </a:solidFill>
          <a:ln xmlns:a="http://schemas.openxmlformats.org/drawingml/2006/main" w="0">
            <a:noFill/>
            <a:prstDash val="solid"/>
          </a:ln>
        </p:spPr>
      </p:sp>
      <p:sp>
        <p:nvSpPr>
          <p:cNvPr id="3" name="eyebrow-07 / Working application">
            <a:extLst xmlns:a="http://schemas.openxmlformats.org/drawingml/2006/main">
              <a:ext uri="{FF2B5EF4-FFF2-40B4-BE49-F238E27FC236}">
                <a16:creationId xmlns:a16="http://schemas.microsoft.com/office/drawing/2014/main" id="{B5E97640-D102-4015-A21B-C00836710114}"/>
              </a:ext>
            </a:extLst>
          </p:cNvPr>
          <p:cNvSpPr>
            <a:spLocks xmlns:a="http://schemas.openxmlformats.org/drawingml/2006/main" noGrp="1"/>
          </p:cNvSpPr>
          <p:nvPr/>
        </p:nvSpPr>
        <p:spPr>
          <a:xfrm xmlns:a="http://schemas.openxmlformats.org/drawingml/2006/main">
            <a:off x="609600" y="5524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8FF3D"/>
                </a:solidFill>
              </a:defRPr>
            </a:pPr>
            <a:r>
              <a:rPr sz="975" b="1">
                <a:solidFill>
                  <a:srgbClr val="C8FF3D"/>
                </a:solidFill>
              </a:rPr>
              <a:t>07 / WORKING APPLICATION</a:t>
            </a:r>
          </a:p>
        </p:txBody>
      </p:sp>
      <p:sp>
        <p:nvSpPr>
          <p:cNvPr id="4" name="trade-title">
            <a:extLst xmlns:a="http://schemas.openxmlformats.org/drawingml/2006/main">
              <a:ext uri="{FF2B5EF4-FFF2-40B4-BE49-F238E27FC236}">
                <a16:creationId xmlns:a16="http://schemas.microsoft.com/office/drawing/2014/main" id="{F1D218B6-3922-4945-9CFF-48B8444FA2F5}"/>
              </a:ext>
            </a:extLst>
          </p:cNvPr>
          <p:cNvSpPr>
            <a:spLocks xmlns:a="http://schemas.openxmlformats.org/drawingml/2006/main" noGrp="1"/>
          </p:cNvSpPr>
          <p:nvPr/>
        </p:nvSpPr>
        <p:spPr>
          <a:xfrm xmlns:a="http://schemas.openxmlformats.org/drawingml/2006/main">
            <a:off x="609600" y="1066800"/>
            <a:ext cx="4000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525" b="1">
                <a:solidFill>
                  <a:srgbClr val="FBFAF5"/>
                </a:solidFill>
              </a:defRPr>
            </a:pPr>
            <a:r>
              <a:rPr sz="3525" b="1">
                <a:solidFill>
                  <a:srgbClr val="FBFAF5"/>
                </a:solidFill>
              </a:rPr>
              <a:t>The research produced working software.</a:t>
            </a:r>
          </a:p>
        </p:txBody>
      </p:sp>
      <p:sp>
        <p:nvSpPr>
          <p:cNvPr id="5" name="trade-copy">
            <a:extLst xmlns:a="http://schemas.openxmlformats.org/drawingml/2006/main">
              <a:ext uri="{FF2B5EF4-FFF2-40B4-BE49-F238E27FC236}">
                <a16:creationId xmlns:a16="http://schemas.microsoft.com/office/drawing/2014/main" id="{9140B464-FA7C-49C6-A00A-78FA49854D26}"/>
              </a:ext>
            </a:extLst>
          </p:cNvPr>
          <p:cNvSpPr>
            <a:spLocks xmlns:a="http://schemas.openxmlformats.org/drawingml/2006/main" noGrp="1"/>
          </p:cNvSpPr>
          <p:nvPr/>
        </p:nvSpPr>
        <p:spPr>
          <a:xfrm xmlns:a="http://schemas.openxmlformats.org/drawingml/2006/main">
            <a:off x="609600" y="3257550"/>
            <a:ext cx="37338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B6BCB4"/>
                </a:solidFill>
              </a:defRPr>
            </a:pPr>
            <a:r>
              <a:rPr sz="1500" b="0">
                <a:solidFill>
                  <a:srgbClr val="B6BCB4"/>
                </a:solidFill>
              </a:rPr>
              <a:t>A deterministic securitized-products operations mock for capturing, validating, booking, reviewing, filtering, and cancelling synthetic trades.</a:t>
            </a:r>
          </a:p>
        </p:txBody>
      </p:sp>
      <p:sp>
        <p:nvSpPr>
          <p:cNvPr id="6" name="trade-rule">
            <a:extLst xmlns:a="http://schemas.openxmlformats.org/drawingml/2006/main">
              <a:ext uri="{FF2B5EF4-FFF2-40B4-BE49-F238E27FC236}">
                <a16:creationId xmlns:a16="http://schemas.microsoft.com/office/drawing/2014/main" id="{554B8B02-3D7B-46D3-92A6-BCF3FF7BEE03}"/>
              </a:ext>
            </a:extLst>
          </p:cNvPr>
          <p:cNvSpPr>
            <a:spLocks xmlns:a="http://schemas.openxmlformats.org/drawingml/2006/main" noGrp="1"/>
          </p:cNvSpPr>
          <p:nvPr/>
        </p:nvSpPr>
        <p:spPr>
          <a:xfrm xmlns:a="http://schemas.openxmlformats.org/drawingml/2006/main">
            <a:off x="609600" y="4838700"/>
            <a:ext cx="685800" cy="47625"/>
          </a:xfrm>
          <a:prstGeom xmlns:a="http://schemas.openxmlformats.org/drawingml/2006/main" prst="rect">
            <a:avLst/>
          </a:prstGeom>
          <a:solidFill xmlns:a="http://schemas.openxmlformats.org/drawingml/2006/main">
            <a:srgbClr val="C8FF3D"/>
          </a:solidFill>
          <a:ln xmlns:a="http://schemas.openxmlformats.org/drawingml/2006/main" w="0">
            <a:noFill/>
            <a:prstDash val="solid"/>
          </a:ln>
        </p:spPr>
      </p:sp>
      <p:sp>
        <p:nvSpPr>
          <p:cNvPr id="7" name="trade-proof">
            <a:extLst xmlns:a="http://schemas.openxmlformats.org/drawingml/2006/main">
              <a:ext uri="{FF2B5EF4-FFF2-40B4-BE49-F238E27FC236}">
                <a16:creationId xmlns:a16="http://schemas.microsoft.com/office/drawing/2014/main" id="{D0C420CF-0174-4858-8296-13253FC94BA0}"/>
              </a:ext>
            </a:extLst>
          </p:cNvPr>
          <p:cNvSpPr>
            <a:spLocks xmlns:a="http://schemas.openxmlformats.org/drawingml/2006/main" noGrp="1"/>
          </p:cNvSpPr>
          <p:nvPr/>
        </p:nvSpPr>
        <p:spPr>
          <a:xfrm xmlns:a="http://schemas.openxmlformats.org/drawingml/2006/main">
            <a:off x="609600" y="5105400"/>
            <a:ext cx="3714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BFAF5"/>
                </a:solidFill>
              </a:defRPr>
            </a:pPr>
            <a:r>
              <a:rPr sz="1200" b="1">
                <a:solidFill>
                  <a:srgbClr val="FBFAF5"/>
                </a:solidFill>
              </a:rPr>
              <a:t>Accepted distributed artifact</a:t>
            </a:r>
          </a:p>
          <a:p xmlns:a="http://schemas.openxmlformats.org/drawingml/2006/main">
            <a:pPr algn="l">
              <a:defRPr sz="1200" b="1">
                <a:solidFill>
                  <a:srgbClr val="FBFAF5"/>
                </a:solidFill>
              </a:defRPr>
            </a:pPr>
            <a:r>
              <a:rPr sz="1200" b="1">
                <a:solidFill>
                  <a:srgbClr val="FBFAF5"/>
                </a:solidFill>
              </a:rPr>
              <a:t>No external systems connected</a:t>
            </a:r>
          </a:p>
          <a:p xmlns:a="http://schemas.openxmlformats.org/drawingml/2006/main">
            <a:pPr algn="l">
              <a:defRPr sz="1200" b="1">
                <a:solidFill>
                  <a:srgbClr val="FBFAF5"/>
                </a:solidFill>
              </a:defRPr>
            </a:pPr>
            <a:r>
              <a:rPr sz="1200" b="1">
                <a:solidFill>
                  <a:srgbClr val="FBFAF5"/>
                </a:solidFill>
              </a:rPr>
              <a:t>Synthetic demonstration data only</a:t>
            </a:r>
          </a:p>
        </p:txBody>
      </p:sp>
      <p:sp>
        <p:nvSpPr>
          <p:cNvPr id="8" name="trade-url">
            <a:extLst xmlns:a="http://schemas.openxmlformats.org/drawingml/2006/main">
              <a:ext uri="{FF2B5EF4-FFF2-40B4-BE49-F238E27FC236}">
                <a16:creationId xmlns:a16="http://schemas.microsoft.com/office/drawing/2014/main" id="{F70D47D8-3307-4F79-A24A-BFCF4D3C9A0B}"/>
              </a:ext>
            </a:extLst>
          </p:cNvPr>
          <p:cNvSpPr>
            <a:spLocks xmlns:a="http://schemas.openxmlformats.org/drawingml/2006/main" noGrp="1"/>
          </p:cNvSpPr>
          <p:nvPr/>
        </p:nvSpPr>
        <p:spPr>
          <a:xfrm xmlns:a="http://schemas.openxmlformats.org/drawingml/2006/main">
            <a:off x="609600" y="62484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C8FF3D"/>
                </a:solidFill>
              </a:defRPr>
            </a:pPr>
            <a:r>
              <a:rPr sz="825" b="1">
                <a:solidFill>
                  <a:srgbClr val="C8FF3D"/>
                </a:solidFill>
              </a:rPr>
              <a:t>LIVE ROUTE  /trade-capture</a:t>
            </a:r>
          </a:p>
        </p:txBody>
      </p:sp>
    </p:spTree>
    <p:extLst>
      <p:ext uri="{BB962C8B-B14F-4D97-AF65-F5344CB8AC3E}">
        <p14:creationId xmlns:p14="http://schemas.microsoft.com/office/powerpoint/2010/main" val="562819742"/>
      </p:ext>
    </p:extLst>
  </p:cSld>
</p:sld>
</file>

<file path=ppt/slides/slide9.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29" name="eyebrow-08 / Application stack">
            <a:extLst xmlns:a="http://schemas.openxmlformats.org/drawingml/2006/main">
              <a:ext uri="{FF2B5EF4-FFF2-40B4-BE49-F238E27FC236}">
                <a16:creationId xmlns:a16="http://schemas.microsoft.com/office/drawing/2014/main" id="{16A7B37E-BEF3-418C-A4CF-78A2601CA3CD}"/>
              </a:ext>
            </a:extLst>
          </p:cNvPr>
          <p:cNvSpPr>
            <a:spLocks xmlns:a="http://schemas.openxmlformats.org/drawingml/2006/main" noGrp="1"/>
          </p:cNvSpPr>
          <p:nvPr/>
        </p:nvSpPr>
        <p:spPr>
          <a:xfrm xmlns:a="http://schemas.openxmlformats.org/drawingml/2006/main">
            <a:off x="609600" y="438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15CFF"/>
                </a:solidFill>
              </a:defRPr>
            </a:pPr>
            <a:r>
              <a:rPr sz="975" b="1">
                <a:solidFill>
                  <a:srgbClr val="315CFF"/>
                </a:solidFill>
              </a:rPr>
              <a:t>08 / APPLICATION STACK</a:t>
            </a:r>
          </a:p>
        </p:txBody>
      </p:sp>
      <p:sp>
        <p:nvSpPr>
          <p:cNvPr id="2" name="title-The claims are inspectable through working surfaces.">
            <a:extLst xmlns:a="http://schemas.openxmlformats.org/drawingml/2006/main">
              <a:ext uri="{FF2B5EF4-FFF2-40B4-BE49-F238E27FC236}">
                <a16:creationId xmlns:a16="http://schemas.microsoft.com/office/drawing/2014/main" id="{37276441-0A47-45C0-ABFD-2D3268B63134}"/>
              </a:ext>
            </a:extLst>
          </p:cNvPr>
          <p:cNvSpPr>
            <a:spLocks xmlns:a="http://schemas.openxmlformats.org/drawingml/2006/main" noGrp="1"/>
          </p:cNvSpPr>
          <p:nvPr/>
        </p:nvSpPr>
        <p:spPr>
          <a:xfrm xmlns:a="http://schemas.openxmlformats.org/drawingml/2006/main">
            <a:off x="609600" y="7810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111411"/>
                </a:solidFill>
              </a:defRPr>
            </a:pPr>
            <a:r>
              <a:rPr sz="3150" b="1">
                <a:solidFill>
                  <a:srgbClr val="111411"/>
                </a:solidFill>
              </a:rPr>
              <a:t>The claims are inspectable through working surfaces.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700b848e54b44a7"/>
          <a:srcRect xmlns:a="http://schemas.openxmlformats.org/drawingml/2006/main" l="1639" t="0" r="1639" b="0"/>
          <a:stretch xmlns:a="http://schemas.openxmlformats.org/drawingml/2006/main">
            <a:fillRect l="0" t="0" r="0" b="0"/>
          </a:stretch>
        </p:blipFill>
        <p:spPr>
          <a:xfrm xmlns:a="http://schemas.openxmlformats.org/drawingml/2006/main">
            <a:off x="609600" y="1828800"/>
            <a:ext cx="6715125" cy="3905250"/>
          </a:xfrm>
          <a:prstGeom xmlns:a="http://schemas.openxmlformats.org/drawingml/2006/main" prst="rect">
            <a:avLst/>
          </a:prstGeom>
        </p:spPr>
      </p:pic>
      <p:sp>
        <p:nvSpPr>
          <p:cNvPr id="4" name="lab-image-border">
            <a:extLst xmlns:a="http://schemas.openxmlformats.org/drawingml/2006/main">
              <a:ext uri="{FF2B5EF4-FFF2-40B4-BE49-F238E27FC236}">
                <a16:creationId xmlns:a16="http://schemas.microsoft.com/office/drawing/2014/main" id="{DAB5CB65-34DC-4417-BEA7-2B4D0BD39F43}"/>
              </a:ext>
            </a:extLst>
          </p:cNvPr>
          <p:cNvSpPr>
            <a:spLocks xmlns:a="http://schemas.openxmlformats.org/drawingml/2006/main" noGrp="1"/>
          </p:cNvSpPr>
          <p:nvPr/>
        </p:nvSpPr>
        <p:spPr>
          <a:xfrm xmlns:a="http://schemas.openxmlformats.org/drawingml/2006/main">
            <a:off x="609600" y="1828800"/>
            <a:ext cx="6715125" cy="3905250"/>
          </a:xfrm>
          <a:prstGeom xmlns:a="http://schemas.openxmlformats.org/drawingml/2006/main" prst="rect">
            <a:avLst/>
          </a:prstGeom>
          <a:noFill xmlns:a="http://schemas.openxmlformats.org/drawingml/2006/main"/>
          <a:ln xmlns:a="http://schemas.openxmlformats.org/drawingml/2006/main" w="9525">
            <a:solidFill>
              <a:srgbClr val="111411"/>
            </a:solidFill>
            <a:prstDash val="solid"/>
          </a:ln>
        </p:spPr>
      </p:sp>
      <p:sp>
        <p:nvSpPr>
          <p:cNvPr id="5" name="stack-number-0">
            <a:extLst xmlns:a="http://schemas.openxmlformats.org/drawingml/2006/main">
              <a:ext uri="{FF2B5EF4-FFF2-40B4-BE49-F238E27FC236}">
                <a16:creationId xmlns:a16="http://schemas.microsoft.com/office/drawing/2014/main" id="{5E897AA5-9FCA-412F-8D01-283994843A7C}"/>
              </a:ext>
            </a:extLst>
          </p:cNvPr>
          <p:cNvSpPr>
            <a:spLocks xmlns:a="http://schemas.openxmlformats.org/drawingml/2006/main" noGrp="1"/>
          </p:cNvSpPr>
          <p:nvPr/>
        </p:nvSpPr>
        <p:spPr>
          <a:xfrm xmlns:a="http://schemas.openxmlformats.org/drawingml/2006/main">
            <a:off x="7781925" y="1990725"/>
            <a:ext cx="361950" cy="361950"/>
          </a:xfrm>
          <a:prstGeom xmlns:a="http://schemas.openxmlformats.org/drawingml/2006/main" prst="roundRect">
            <a:avLst>
              <a:gd name="adj" fmla="val 31579"/>
            </a:avLst>
          </a:prstGeom>
          <a:solidFill xmlns:a="http://schemas.openxmlformats.org/drawingml/2006/main">
            <a:srgbClr val="C8FF3D"/>
          </a:solidFill>
          <a:ln xmlns:a="http://schemas.openxmlformats.org/drawingml/2006/main" w="0">
            <a:noFill/>
            <a:prstDash val="solid"/>
          </a:ln>
        </p:spPr>
      </p:sp>
      <p:sp>
        <p:nvSpPr>
          <p:cNvPr id="6" name="stack-index-0">
            <a:extLst xmlns:a="http://schemas.openxmlformats.org/drawingml/2006/main">
              <a:ext uri="{FF2B5EF4-FFF2-40B4-BE49-F238E27FC236}">
                <a16:creationId xmlns:a16="http://schemas.microsoft.com/office/drawing/2014/main" id="{B1C6DD11-4286-4453-AC7A-D60E1182D8CF}"/>
              </a:ext>
            </a:extLst>
          </p:cNvPr>
          <p:cNvSpPr>
            <a:spLocks xmlns:a="http://schemas.openxmlformats.org/drawingml/2006/main" noGrp="1"/>
          </p:cNvSpPr>
          <p:nvPr/>
        </p:nvSpPr>
        <p:spPr>
          <a:xfrm xmlns:a="http://schemas.openxmlformats.org/drawingml/2006/main">
            <a:off x="7781925" y="2085975"/>
            <a:ext cx="36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111411"/>
                </a:solidFill>
              </a:defRPr>
            </a:pPr>
            <a:r>
              <a:rPr sz="750" b="1">
                <a:solidFill>
                  <a:srgbClr val="111411"/>
                </a:solidFill>
              </a:rPr>
              <a:t>01</a:t>
            </a:r>
          </a:p>
        </p:txBody>
      </p:sp>
      <p:sp>
        <p:nvSpPr>
          <p:cNvPr id="7" name="stack-name-0">
            <a:extLst xmlns:a="http://schemas.openxmlformats.org/drawingml/2006/main">
              <a:ext uri="{FF2B5EF4-FFF2-40B4-BE49-F238E27FC236}">
                <a16:creationId xmlns:a16="http://schemas.microsoft.com/office/drawing/2014/main" id="{CD6FBF2A-4B8D-4147-9A13-B8399E47FC21}"/>
              </a:ext>
            </a:extLst>
          </p:cNvPr>
          <p:cNvSpPr>
            <a:spLocks xmlns:a="http://schemas.openxmlformats.org/drawingml/2006/main" noGrp="1"/>
          </p:cNvSpPr>
          <p:nvPr/>
        </p:nvSpPr>
        <p:spPr>
          <a:xfrm xmlns:a="http://schemas.openxmlformats.org/drawingml/2006/main">
            <a:off x="8372475" y="19716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11411"/>
                </a:solidFill>
              </a:defRPr>
            </a:pPr>
            <a:r>
              <a:rPr sz="1575" b="1">
                <a:solidFill>
                  <a:srgbClr val="111411"/>
                </a:solidFill>
              </a:rPr>
              <a:t>Trade capture</a:t>
            </a:r>
          </a:p>
        </p:txBody>
      </p:sp>
      <p:sp>
        <p:nvSpPr>
          <p:cNvPr id="8" name="stack-role-0">
            <a:extLst xmlns:a="http://schemas.openxmlformats.org/drawingml/2006/main">
              <a:ext uri="{FF2B5EF4-FFF2-40B4-BE49-F238E27FC236}">
                <a16:creationId xmlns:a16="http://schemas.microsoft.com/office/drawing/2014/main" id="{7B508B8F-E84C-4A85-928F-44B913112677}"/>
              </a:ext>
            </a:extLst>
          </p:cNvPr>
          <p:cNvSpPr>
            <a:spLocks xmlns:a="http://schemas.openxmlformats.org/drawingml/2006/main" noGrp="1"/>
          </p:cNvSpPr>
          <p:nvPr/>
        </p:nvSpPr>
        <p:spPr>
          <a:xfrm xmlns:a="http://schemas.openxmlformats.org/drawingml/2006/main">
            <a:off x="8372475" y="229552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86C65"/>
                </a:solidFill>
              </a:defRPr>
            </a:pPr>
            <a:r>
              <a:rPr sz="1050" b="0">
                <a:solidFill>
                  <a:srgbClr val="686C65"/>
                </a:solidFill>
              </a:rPr>
              <a:t>Live application</a:t>
            </a:r>
          </a:p>
        </p:txBody>
      </p:sp>
      <p:sp>
        <p:nvSpPr>
          <p:cNvPr id="9" name="stack-line-0">
            <a:extLst xmlns:a="http://schemas.openxmlformats.org/drawingml/2006/main">
              <a:ext uri="{FF2B5EF4-FFF2-40B4-BE49-F238E27FC236}">
                <a16:creationId xmlns:a16="http://schemas.microsoft.com/office/drawing/2014/main" id="{3C1B67B8-6A50-44ED-99E0-6875FA12BEB8}"/>
              </a:ext>
            </a:extLst>
          </p:cNvPr>
          <p:cNvSpPr>
            <a:spLocks xmlns:a="http://schemas.openxmlformats.org/drawingml/2006/main" noGrp="1"/>
          </p:cNvSpPr>
          <p:nvPr/>
        </p:nvSpPr>
        <p:spPr>
          <a:xfrm xmlns:a="http://schemas.openxmlformats.org/drawingml/2006/main">
            <a:off x="8372475" y="2657475"/>
            <a:ext cx="2857500" cy="9525"/>
          </a:xfrm>
          <a:prstGeom xmlns:a="http://schemas.openxmlformats.org/drawingml/2006/main" prst="rect">
            <a:avLst/>
          </a:prstGeom>
          <a:solidFill xmlns:a="http://schemas.openxmlformats.org/drawingml/2006/main">
            <a:srgbClr val="D4D0C5"/>
          </a:solidFill>
          <a:ln xmlns:a="http://schemas.openxmlformats.org/drawingml/2006/main" w="0">
            <a:noFill/>
            <a:prstDash val="solid"/>
          </a:ln>
        </p:spPr>
      </p:sp>
      <p:sp>
        <p:nvSpPr>
          <p:cNvPr id="10" name="stack-number-1">
            <a:extLst xmlns:a="http://schemas.openxmlformats.org/drawingml/2006/main">
              <a:ext uri="{FF2B5EF4-FFF2-40B4-BE49-F238E27FC236}">
                <a16:creationId xmlns:a16="http://schemas.microsoft.com/office/drawing/2014/main" id="{DA481177-5266-4C22-BCFA-EBBAAB659ABE}"/>
              </a:ext>
            </a:extLst>
          </p:cNvPr>
          <p:cNvSpPr>
            <a:spLocks xmlns:a="http://schemas.openxmlformats.org/drawingml/2006/main" noGrp="1"/>
          </p:cNvSpPr>
          <p:nvPr/>
        </p:nvSpPr>
        <p:spPr>
          <a:xfrm xmlns:a="http://schemas.openxmlformats.org/drawingml/2006/main">
            <a:off x="7781925" y="2895600"/>
            <a:ext cx="361950" cy="361950"/>
          </a:xfrm>
          <a:prstGeom xmlns:a="http://schemas.openxmlformats.org/drawingml/2006/main" prst="roundRect">
            <a:avLst>
              <a:gd name="adj" fmla="val 31579"/>
            </a:avLst>
          </a:prstGeom>
          <a:solidFill xmlns:a="http://schemas.openxmlformats.org/drawingml/2006/main">
            <a:srgbClr val="E7ECFF"/>
          </a:solidFill>
          <a:ln xmlns:a="http://schemas.openxmlformats.org/drawingml/2006/main" w="0">
            <a:noFill/>
            <a:prstDash val="solid"/>
          </a:ln>
        </p:spPr>
      </p:sp>
      <p:sp>
        <p:nvSpPr>
          <p:cNvPr id="11" name="stack-index-1">
            <a:extLst xmlns:a="http://schemas.openxmlformats.org/drawingml/2006/main">
              <a:ext uri="{FF2B5EF4-FFF2-40B4-BE49-F238E27FC236}">
                <a16:creationId xmlns:a16="http://schemas.microsoft.com/office/drawing/2014/main" id="{51A395F4-826F-4E39-B4DC-007B79B8A40F}"/>
              </a:ext>
            </a:extLst>
          </p:cNvPr>
          <p:cNvSpPr>
            <a:spLocks xmlns:a="http://schemas.openxmlformats.org/drawingml/2006/main" noGrp="1"/>
          </p:cNvSpPr>
          <p:nvPr/>
        </p:nvSpPr>
        <p:spPr>
          <a:xfrm xmlns:a="http://schemas.openxmlformats.org/drawingml/2006/main">
            <a:off x="7781925" y="2990850"/>
            <a:ext cx="36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111411"/>
                </a:solidFill>
              </a:defRPr>
            </a:pPr>
            <a:r>
              <a:rPr sz="750" b="1">
                <a:solidFill>
                  <a:srgbClr val="111411"/>
                </a:solidFill>
              </a:rPr>
              <a:t>02</a:t>
            </a:r>
          </a:p>
        </p:txBody>
      </p:sp>
      <p:sp>
        <p:nvSpPr>
          <p:cNvPr id="12" name="stack-name-1">
            <a:extLst xmlns:a="http://schemas.openxmlformats.org/drawingml/2006/main">
              <a:ext uri="{FF2B5EF4-FFF2-40B4-BE49-F238E27FC236}">
                <a16:creationId xmlns:a16="http://schemas.microsoft.com/office/drawing/2014/main" id="{54FA4090-8C1E-46EC-8F43-222675477005}"/>
              </a:ext>
            </a:extLst>
          </p:cNvPr>
          <p:cNvSpPr>
            <a:spLocks xmlns:a="http://schemas.openxmlformats.org/drawingml/2006/main" noGrp="1"/>
          </p:cNvSpPr>
          <p:nvPr/>
        </p:nvSpPr>
        <p:spPr>
          <a:xfrm xmlns:a="http://schemas.openxmlformats.org/drawingml/2006/main">
            <a:off x="8372475" y="28765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11411"/>
                </a:solidFill>
              </a:defRPr>
            </a:pPr>
            <a:r>
              <a:rPr sz="1575" b="1">
                <a:solidFill>
                  <a:srgbClr val="111411"/>
                </a:solidFill>
              </a:rPr>
              <a:t>Neutral Pi harness</a:t>
            </a:r>
          </a:p>
        </p:txBody>
      </p:sp>
      <p:sp>
        <p:nvSpPr>
          <p:cNvPr id="13" name="stack-role-1">
            <a:extLst xmlns:a="http://schemas.openxmlformats.org/drawingml/2006/main">
              <a:ext uri="{FF2B5EF4-FFF2-40B4-BE49-F238E27FC236}">
                <a16:creationId xmlns:a16="http://schemas.microsoft.com/office/drawing/2014/main" id="{C84A7DA1-B23A-4C57-85C4-F122BDA6FB2F}"/>
              </a:ext>
            </a:extLst>
          </p:cNvPr>
          <p:cNvSpPr>
            <a:spLocks xmlns:a="http://schemas.openxmlformats.org/drawingml/2006/main" noGrp="1"/>
          </p:cNvSpPr>
          <p:nvPr/>
        </p:nvSpPr>
        <p:spPr>
          <a:xfrm xmlns:a="http://schemas.openxmlformats.org/drawingml/2006/main">
            <a:off x="8372475" y="32004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86C65"/>
                </a:solidFill>
              </a:defRPr>
            </a:pPr>
            <a:r>
              <a:rPr sz="1050" b="0">
                <a:solidFill>
                  <a:srgbClr val="686C65"/>
                </a:solidFill>
              </a:rPr>
              <a:t>Model comparison</a:t>
            </a:r>
          </a:p>
        </p:txBody>
      </p:sp>
      <p:sp>
        <p:nvSpPr>
          <p:cNvPr id="14" name="stack-line-1">
            <a:extLst xmlns:a="http://schemas.openxmlformats.org/drawingml/2006/main">
              <a:ext uri="{FF2B5EF4-FFF2-40B4-BE49-F238E27FC236}">
                <a16:creationId xmlns:a16="http://schemas.microsoft.com/office/drawing/2014/main" id="{042D5E66-5914-4CB4-B000-258202CCD6BA}"/>
              </a:ext>
            </a:extLst>
          </p:cNvPr>
          <p:cNvSpPr>
            <a:spLocks xmlns:a="http://schemas.openxmlformats.org/drawingml/2006/main" noGrp="1"/>
          </p:cNvSpPr>
          <p:nvPr/>
        </p:nvSpPr>
        <p:spPr>
          <a:xfrm xmlns:a="http://schemas.openxmlformats.org/drawingml/2006/main">
            <a:off x="8372475" y="3562350"/>
            <a:ext cx="2857500" cy="9525"/>
          </a:xfrm>
          <a:prstGeom xmlns:a="http://schemas.openxmlformats.org/drawingml/2006/main" prst="rect">
            <a:avLst/>
          </a:prstGeom>
          <a:solidFill xmlns:a="http://schemas.openxmlformats.org/drawingml/2006/main">
            <a:srgbClr val="D4D0C5"/>
          </a:solidFill>
          <a:ln xmlns:a="http://schemas.openxmlformats.org/drawingml/2006/main" w="0">
            <a:noFill/>
            <a:prstDash val="solid"/>
          </a:ln>
        </p:spPr>
      </p:sp>
      <p:sp>
        <p:nvSpPr>
          <p:cNvPr id="15" name="stack-number-2">
            <a:extLst xmlns:a="http://schemas.openxmlformats.org/drawingml/2006/main">
              <a:ext uri="{FF2B5EF4-FFF2-40B4-BE49-F238E27FC236}">
                <a16:creationId xmlns:a16="http://schemas.microsoft.com/office/drawing/2014/main" id="{81F621B6-C3F7-492C-9A45-E443475A6052}"/>
              </a:ext>
            </a:extLst>
          </p:cNvPr>
          <p:cNvSpPr>
            <a:spLocks xmlns:a="http://schemas.openxmlformats.org/drawingml/2006/main" noGrp="1"/>
          </p:cNvSpPr>
          <p:nvPr/>
        </p:nvSpPr>
        <p:spPr>
          <a:xfrm xmlns:a="http://schemas.openxmlformats.org/drawingml/2006/main">
            <a:off x="7781925" y="3800475"/>
            <a:ext cx="361950" cy="361950"/>
          </a:xfrm>
          <a:prstGeom xmlns:a="http://schemas.openxmlformats.org/drawingml/2006/main" prst="roundRect">
            <a:avLst>
              <a:gd name="adj" fmla="val 31579"/>
            </a:avLst>
          </a:prstGeom>
          <a:solidFill xmlns:a="http://schemas.openxmlformats.org/drawingml/2006/main">
            <a:srgbClr val="C8FF3D"/>
          </a:solidFill>
          <a:ln xmlns:a="http://schemas.openxmlformats.org/drawingml/2006/main" w="0">
            <a:noFill/>
            <a:prstDash val="solid"/>
          </a:ln>
        </p:spPr>
      </p:sp>
      <p:sp>
        <p:nvSpPr>
          <p:cNvPr id="16" name="stack-index-2">
            <a:extLst xmlns:a="http://schemas.openxmlformats.org/drawingml/2006/main">
              <a:ext uri="{FF2B5EF4-FFF2-40B4-BE49-F238E27FC236}">
                <a16:creationId xmlns:a16="http://schemas.microsoft.com/office/drawing/2014/main" id="{AB517C2A-2C62-4AB8-9573-DBD4BED1D18A}"/>
              </a:ext>
            </a:extLst>
          </p:cNvPr>
          <p:cNvSpPr>
            <a:spLocks xmlns:a="http://schemas.openxmlformats.org/drawingml/2006/main" noGrp="1"/>
          </p:cNvSpPr>
          <p:nvPr/>
        </p:nvSpPr>
        <p:spPr>
          <a:xfrm xmlns:a="http://schemas.openxmlformats.org/drawingml/2006/main">
            <a:off x="7781925" y="3895725"/>
            <a:ext cx="36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111411"/>
                </a:solidFill>
              </a:defRPr>
            </a:pPr>
            <a:r>
              <a:rPr sz="750" b="1">
                <a:solidFill>
                  <a:srgbClr val="111411"/>
                </a:solidFill>
              </a:rPr>
              <a:t>03</a:t>
            </a:r>
          </a:p>
        </p:txBody>
      </p:sp>
      <p:sp>
        <p:nvSpPr>
          <p:cNvPr id="17" name="stack-name-2">
            <a:extLst xmlns:a="http://schemas.openxmlformats.org/drawingml/2006/main">
              <a:ext uri="{FF2B5EF4-FFF2-40B4-BE49-F238E27FC236}">
                <a16:creationId xmlns:a16="http://schemas.microsoft.com/office/drawing/2014/main" id="{18B05710-2B6D-418F-9A0A-3BC85258F9C2}"/>
              </a:ext>
            </a:extLst>
          </p:cNvPr>
          <p:cNvSpPr>
            <a:spLocks xmlns:a="http://schemas.openxmlformats.org/drawingml/2006/main" noGrp="1"/>
          </p:cNvSpPr>
          <p:nvPr/>
        </p:nvSpPr>
        <p:spPr>
          <a:xfrm xmlns:a="http://schemas.openxmlformats.org/drawingml/2006/main">
            <a:off x="8372475" y="37814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11411"/>
                </a:solidFill>
              </a:defRPr>
            </a:pPr>
            <a:r>
              <a:rPr sz="1575" b="1">
                <a:solidFill>
                  <a:srgbClr val="111411"/>
                </a:solidFill>
              </a:rPr>
              <a:t>Benchmark orchestrator</a:t>
            </a:r>
          </a:p>
        </p:txBody>
      </p:sp>
      <p:sp>
        <p:nvSpPr>
          <p:cNvPr id="18" name="stack-role-2">
            <a:extLst xmlns:a="http://schemas.openxmlformats.org/drawingml/2006/main">
              <a:ext uri="{FF2B5EF4-FFF2-40B4-BE49-F238E27FC236}">
                <a16:creationId xmlns:a16="http://schemas.microsoft.com/office/drawing/2014/main" id="{3DCD3C88-E6CE-417D-A058-FD574B20507D}"/>
              </a:ext>
            </a:extLst>
          </p:cNvPr>
          <p:cNvSpPr>
            <a:spLocks xmlns:a="http://schemas.openxmlformats.org/drawingml/2006/main" noGrp="1"/>
          </p:cNvSpPr>
          <p:nvPr/>
        </p:nvSpPr>
        <p:spPr>
          <a:xfrm xmlns:a="http://schemas.openxmlformats.org/drawingml/2006/main">
            <a:off x="8372475" y="41052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86C65"/>
                </a:solidFill>
              </a:defRPr>
            </a:pPr>
            <a:r>
              <a:rPr sz="1050" b="0">
                <a:solidFill>
                  <a:srgbClr val="686C65"/>
                </a:solidFill>
              </a:rPr>
              <a:t>Assistant execution</a:t>
            </a:r>
          </a:p>
        </p:txBody>
      </p:sp>
      <p:sp>
        <p:nvSpPr>
          <p:cNvPr id="19" name="stack-line-2">
            <a:extLst xmlns:a="http://schemas.openxmlformats.org/drawingml/2006/main">
              <a:ext uri="{FF2B5EF4-FFF2-40B4-BE49-F238E27FC236}">
                <a16:creationId xmlns:a16="http://schemas.microsoft.com/office/drawing/2014/main" id="{F5CB04AA-4F3A-440F-85AE-C50E1361DC9A}"/>
              </a:ext>
            </a:extLst>
          </p:cNvPr>
          <p:cNvSpPr>
            <a:spLocks xmlns:a="http://schemas.openxmlformats.org/drawingml/2006/main" noGrp="1"/>
          </p:cNvSpPr>
          <p:nvPr/>
        </p:nvSpPr>
        <p:spPr>
          <a:xfrm xmlns:a="http://schemas.openxmlformats.org/drawingml/2006/main">
            <a:off x="8372475" y="4467225"/>
            <a:ext cx="2857500" cy="9525"/>
          </a:xfrm>
          <a:prstGeom xmlns:a="http://schemas.openxmlformats.org/drawingml/2006/main" prst="rect">
            <a:avLst/>
          </a:prstGeom>
          <a:solidFill xmlns:a="http://schemas.openxmlformats.org/drawingml/2006/main">
            <a:srgbClr val="D4D0C5"/>
          </a:solidFill>
          <a:ln xmlns:a="http://schemas.openxmlformats.org/drawingml/2006/main" w="0">
            <a:noFill/>
            <a:prstDash val="solid"/>
          </a:ln>
        </p:spPr>
      </p:sp>
      <p:sp>
        <p:nvSpPr>
          <p:cNvPr id="20" name="stack-number-3">
            <a:extLst xmlns:a="http://schemas.openxmlformats.org/drawingml/2006/main">
              <a:ext uri="{FF2B5EF4-FFF2-40B4-BE49-F238E27FC236}">
                <a16:creationId xmlns:a16="http://schemas.microsoft.com/office/drawing/2014/main" id="{B041AE22-996E-47ED-8253-E7504A4A0C68}"/>
              </a:ext>
            </a:extLst>
          </p:cNvPr>
          <p:cNvSpPr>
            <a:spLocks xmlns:a="http://schemas.openxmlformats.org/drawingml/2006/main" noGrp="1"/>
          </p:cNvSpPr>
          <p:nvPr/>
        </p:nvSpPr>
        <p:spPr>
          <a:xfrm xmlns:a="http://schemas.openxmlformats.org/drawingml/2006/main">
            <a:off x="7781925" y="4705350"/>
            <a:ext cx="361950" cy="361950"/>
          </a:xfrm>
          <a:prstGeom xmlns:a="http://schemas.openxmlformats.org/drawingml/2006/main" prst="roundRect">
            <a:avLst>
              <a:gd name="adj" fmla="val 31579"/>
            </a:avLst>
          </a:prstGeom>
          <a:solidFill xmlns:a="http://schemas.openxmlformats.org/drawingml/2006/main">
            <a:srgbClr val="E7ECFF"/>
          </a:solidFill>
          <a:ln xmlns:a="http://schemas.openxmlformats.org/drawingml/2006/main" w="0">
            <a:noFill/>
            <a:prstDash val="solid"/>
          </a:ln>
        </p:spPr>
      </p:sp>
      <p:sp>
        <p:nvSpPr>
          <p:cNvPr id="21" name="stack-index-3">
            <a:extLst xmlns:a="http://schemas.openxmlformats.org/drawingml/2006/main">
              <a:ext uri="{FF2B5EF4-FFF2-40B4-BE49-F238E27FC236}">
                <a16:creationId xmlns:a16="http://schemas.microsoft.com/office/drawing/2014/main" id="{23F2469D-D411-4F03-83C4-866EBCC34C95}"/>
              </a:ext>
            </a:extLst>
          </p:cNvPr>
          <p:cNvSpPr>
            <a:spLocks xmlns:a="http://schemas.openxmlformats.org/drawingml/2006/main" noGrp="1"/>
          </p:cNvSpPr>
          <p:nvPr/>
        </p:nvSpPr>
        <p:spPr>
          <a:xfrm xmlns:a="http://schemas.openxmlformats.org/drawingml/2006/main">
            <a:off x="7781925" y="4800600"/>
            <a:ext cx="36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111411"/>
                </a:solidFill>
              </a:defRPr>
            </a:pPr>
            <a:r>
              <a:rPr sz="750" b="1">
                <a:solidFill>
                  <a:srgbClr val="111411"/>
                </a:solidFill>
              </a:rPr>
              <a:t>04</a:t>
            </a:r>
          </a:p>
        </p:txBody>
      </p:sp>
      <p:sp>
        <p:nvSpPr>
          <p:cNvPr id="22" name="stack-name-3">
            <a:extLst xmlns:a="http://schemas.openxmlformats.org/drawingml/2006/main">
              <a:ext uri="{FF2B5EF4-FFF2-40B4-BE49-F238E27FC236}">
                <a16:creationId xmlns:a16="http://schemas.microsoft.com/office/drawing/2014/main" id="{45D16187-9592-4DBA-B413-C968D7366224}"/>
              </a:ext>
            </a:extLst>
          </p:cNvPr>
          <p:cNvSpPr>
            <a:spLocks xmlns:a="http://schemas.openxmlformats.org/drawingml/2006/main" noGrp="1"/>
          </p:cNvSpPr>
          <p:nvPr/>
        </p:nvSpPr>
        <p:spPr>
          <a:xfrm xmlns:a="http://schemas.openxmlformats.org/drawingml/2006/main">
            <a:off x="8372475" y="4686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11411"/>
                </a:solidFill>
              </a:defRPr>
            </a:pPr>
            <a:r>
              <a:rPr sz="1575" b="1">
                <a:solidFill>
                  <a:srgbClr val="111411"/>
                </a:solidFill>
              </a:rPr>
              <a:t>Read-only audit MCP</a:t>
            </a:r>
          </a:p>
        </p:txBody>
      </p:sp>
      <p:sp>
        <p:nvSpPr>
          <p:cNvPr id="23" name="stack-role-3">
            <a:extLst xmlns:a="http://schemas.openxmlformats.org/drawingml/2006/main">
              <a:ext uri="{FF2B5EF4-FFF2-40B4-BE49-F238E27FC236}">
                <a16:creationId xmlns:a16="http://schemas.microsoft.com/office/drawing/2014/main" id="{C266D762-5650-456D-A102-08647EBA2E9A}"/>
              </a:ext>
            </a:extLst>
          </p:cNvPr>
          <p:cNvSpPr>
            <a:spLocks xmlns:a="http://schemas.openxmlformats.org/drawingml/2006/main" noGrp="1"/>
          </p:cNvSpPr>
          <p:nvPr/>
        </p:nvSpPr>
        <p:spPr>
          <a:xfrm xmlns:a="http://schemas.openxmlformats.org/drawingml/2006/main">
            <a:off x="8372475" y="50101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86C65"/>
                </a:solidFill>
              </a:defRPr>
            </a:pPr>
            <a:r>
              <a:rPr sz="1050" b="0">
                <a:solidFill>
                  <a:srgbClr val="686C65"/>
                </a:solidFill>
              </a:rPr>
              <a:t>Portable verification</a:t>
            </a:r>
          </a:p>
        </p:txBody>
      </p:sp>
      <p:sp>
        <p:nvSpPr>
          <p:cNvPr id="24" name="stack-line-3">
            <a:extLst xmlns:a="http://schemas.openxmlformats.org/drawingml/2006/main">
              <a:ext uri="{FF2B5EF4-FFF2-40B4-BE49-F238E27FC236}">
                <a16:creationId xmlns:a16="http://schemas.microsoft.com/office/drawing/2014/main" id="{BD8894F0-75B6-4D8A-B12F-ED5C4A56674B}"/>
              </a:ext>
            </a:extLst>
          </p:cNvPr>
          <p:cNvSpPr>
            <a:spLocks xmlns:a="http://schemas.openxmlformats.org/drawingml/2006/main" noGrp="1"/>
          </p:cNvSpPr>
          <p:nvPr/>
        </p:nvSpPr>
        <p:spPr>
          <a:xfrm xmlns:a="http://schemas.openxmlformats.org/drawingml/2006/main">
            <a:off x="8372475" y="5372100"/>
            <a:ext cx="2857500" cy="9525"/>
          </a:xfrm>
          <a:prstGeom xmlns:a="http://schemas.openxmlformats.org/drawingml/2006/main" prst="rect">
            <a:avLst/>
          </a:prstGeom>
          <a:solidFill xmlns:a="http://schemas.openxmlformats.org/drawingml/2006/main">
            <a:srgbClr val="D4D0C5"/>
          </a:solidFill>
          <a:ln xmlns:a="http://schemas.openxmlformats.org/drawingml/2006/main" w="0">
            <a:noFill/>
            <a:prstDash val="solid"/>
          </a:ln>
        </p:spPr>
      </p:sp>
      <p:sp>
        <p:nvSpPr>
          <p:cNvPr id="25" name="lab-deck-link">
            <a:extLst xmlns:a="http://schemas.openxmlformats.org/drawingml/2006/main">
              <a:ext uri="{FF2B5EF4-FFF2-40B4-BE49-F238E27FC236}">
                <a16:creationId xmlns:a16="http://schemas.microsoft.com/office/drawing/2014/main" id="{D368F803-180A-4BC1-8D40-5B2FFB74F1B7}"/>
              </a:ext>
            </a:extLst>
          </p:cNvPr>
          <p:cNvSpPr>
            <a:spLocks xmlns:a="http://schemas.openxmlformats.org/drawingml/2006/main" noGrp="1"/>
          </p:cNvSpPr>
          <p:nvPr/>
        </p:nvSpPr>
        <p:spPr>
          <a:xfrm xmlns:a="http://schemas.openxmlformats.org/drawingml/2006/main">
            <a:off x="7781925" y="57531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15CFF"/>
                </a:solidFill>
              </a:defRPr>
            </a:pPr>
            <a:r>
              <a:rPr sz="900" b="1">
                <a:solidFill>
                  <a:srgbClr val="315CFF"/>
                </a:solidFill>
              </a:rPr>
              <a:t>SHAREABLE EXPERIENCE  /lab</a:t>
            </a:r>
          </a:p>
        </p:txBody>
      </p:sp>
      <p:sp>
        <p:nvSpPr>
          <p:cNvPr id="26" name="footer-line-9">
            <a:extLst xmlns:a="http://schemas.openxmlformats.org/drawingml/2006/main">
              <a:ext uri="{FF2B5EF4-FFF2-40B4-BE49-F238E27FC236}">
                <a16:creationId xmlns:a16="http://schemas.microsoft.com/office/drawing/2014/main" id="{19906995-D1C2-496C-B949-DA699FFA29D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4D0C5"/>
          </a:solidFill>
          <a:ln xmlns:a="http://schemas.openxmlformats.org/drawingml/2006/main" w="0">
            <a:noFill/>
            <a:prstDash val="solid"/>
          </a:ln>
        </p:spPr>
      </p:sp>
      <p:sp>
        <p:nvSpPr>
          <p:cNvPr id="27" name="footer-brand-9">
            <a:extLst xmlns:a="http://schemas.openxmlformats.org/drawingml/2006/main">
              <a:ext uri="{FF2B5EF4-FFF2-40B4-BE49-F238E27FC236}">
                <a16:creationId xmlns:a16="http://schemas.microsoft.com/office/drawing/2014/main" id="{BDFE0563-45BF-4447-905F-8A95321992A9}"/>
              </a:ext>
            </a:extLst>
          </p:cNvPr>
          <p:cNvSpPr>
            <a:spLocks xmlns:a="http://schemas.openxmlformats.org/drawingml/2006/main" noGrp="1"/>
          </p:cNvSpPr>
          <p:nvPr/>
        </p:nvSpPr>
        <p:spPr>
          <a:xfrm xmlns:a="http://schemas.openxmlformats.org/drawingml/2006/main">
            <a:off x="609600" y="65532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686C65"/>
                </a:solidFill>
              </a:defRPr>
            </a:pPr>
            <a:r>
              <a:rPr sz="750" b="1">
                <a:solidFill>
                  <a:srgbClr val="686C65"/>
                </a:solidFill>
              </a:rPr>
              <a:t>CODING INTELLIGENCE FIELD STUDY</a:t>
            </a:r>
          </a:p>
        </p:txBody>
      </p:sp>
      <p:sp>
        <p:nvSpPr>
          <p:cNvPr id="28" name="footer-number-9">
            <a:extLst xmlns:a="http://schemas.openxmlformats.org/drawingml/2006/main">
              <a:ext uri="{FF2B5EF4-FFF2-40B4-BE49-F238E27FC236}">
                <a16:creationId xmlns:a16="http://schemas.microsoft.com/office/drawing/2014/main" id="{80786B9B-A496-4AAC-AA60-B4C1FCD0B0D9}"/>
              </a:ext>
            </a:extLst>
          </p:cNvPr>
          <p:cNvSpPr>
            <a:spLocks xmlns:a="http://schemas.openxmlformats.org/drawingml/2006/main" noGrp="1"/>
          </p:cNvSpPr>
          <p:nvPr/>
        </p:nvSpPr>
        <p:spPr>
          <a:xfrm xmlns:a="http://schemas.openxmlformats.org/drawingml/2006/main">
            <a:off x="11125200" y="65532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111411"/>
                </a:solidFill>
              </a:defRPr>
            </a:pPr>
            <a:r>
              <a:rPr sz="750" b="1">
                <a:solidFill>
                  <a:srgbClr val="111411"/>
                </a:solidFill>
              </a:rPr>
              <a:t>09</a:t>
            </a:r>
          </a:p>
        </p:txBody>
      </p:sp>
    </p:spTree>
    <p:extLst>
      <p:ext uri="{BB962C8B-B14F-4D97-AF65-F5344CB8AC3E}">
        <p14:creationId xmlns:p14="http://schemas.microsoft.com/office/powerpoint/2010/main" val="1379191237"/>
      </p:ext>
    </p:extLst>
  </p:cSld>
</p:sld>
</file>

<file path=ppt/slides/slide10.xml><?xml version="1.0" encoding="utf-8"?>
<p:sld xmlns:p="http://schemas.openxmlformats.org/presentationml/2006/main">
  <p:cSld>
    <p:bg>
      <p:bgPr>
        <a:solidFill xmlns:a="http://schemas.openxmlformats.org/drawingml/2006/main">
          <a:srgbClr val="111411"/>
        </a:solidFill>
      </p:bgPr>
    </p:bg>
    <p:spTree>
      <p:nvGrpSpPr>
        <p:cNvPr id="1" name=""/>
        <p:cNvGrpSpPr/>
        <p:nvPr/>
      </p:nvGrpSpPr>
      <p:grpSpPr>
        <a:xfrm xmlns:a="http://schemas.openxmlformats.org/drawingml/2006/main"/>
      </p:grpSpPr>
      <p:sp>
        <p:nvSpPr>
          <p:cNvPr id="28" name="eyebrow-09 / Operating model">
            <a:extLst xmlns:a="http://schemas.openxmlformats.org/drawingml/2006/main">
              <a:ext uri="{FF2B5EF4-FFF2-40B4-BE49-F238E27FC236}">
                <a16:creationId xmlns:a16="http://schemas.microsoft.com/office/drawing/2014/main" id="{32E57BD4-D6BA-4E48-8C82-FA20E0C8F246}"/>
              </a:ext>
            </a:extLst>
          </p:cNvPr>
          <p:cNvSpPr>
            <a:spLocks xmlns:a="http://schemas.openxmlformats.org/drawingml/2006/main" noGrp="1"/>
          </p:cNvSpPr>
          <p:nvPr/>
        </p:nvSpPr>
        <p:spPr>
          <a:xfrm xmlns:a="http://schemas.openxmlformats.org/drawingml/2006/main">
            <a:off x="609600" y="438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8FF3D"/>
                </a:solidFill>
              </a:defRPr>
            </a:pPr>
            <a:r>
              <a:rPr sz="975" b="1">
                <a:solidFill>
                  <a:srgbClr val="C8FF3D"/>
                </a:solidFill>
              </a:rPr>
              <a:t>09 / OPERATING MODEL</a:t>
            </a:r>
          </a:p>
        </p:txBody>
      </p:sp>
      <p:sp>
        <p:nvSpPr>
          <p:cNvPr id="2" name="title-Build a portfolio of roles, not a brand leaderboard.">
            <a:extLst xmlns:a="http://schemas.openxmlformats.org/drawingml/2006/main">
              <a:ext uri="{FF2B5EF4-FFF2-40B4-BE49-F238E27FC236}">
                <a16:creationId xmlns:a16="http://schemas.microsoft.com/office/drawing/2014/main" id="{F72813AE-F020-4F1B-96E0-EE6D681561C1}"/>
              </a:ext>
            </a:extLst>
          </p:cNvPr>
          <p:cNvSpPr>
            <a:spLocks xmlns:a="http://schemas.openxmlformats.org/drawingml/2006/main" noGrp="1"/>
          </p:cNvSpPr>
          <p:nvPr/>
        </p:nvSpPr>
        <p:spPr>
          <a:xfrm xmlns:a="http://schemas.openxmlformats.org/drawingml/2006/main">
            <a:off x="609600" y="781050"/>
            <a:ext cx="1076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75" b="1">
                <a:solidFill>
                  <a:srgbClr val="FBFAF5"/>
                </a:solidFill>
              </a:defRPr>
            </a:pPr>
            <a:r>
              <a:rPr sz="3375" b="1">
                <a:solidFill>
                  <a:srgbClr val="FBFAF5"/>
                </a:solidFill>
              </a:rPr>
              <a:t>Build a portfolio of roles, not a brand leaderboard.</a:t>
            </a:r>
          </a:p>
        </p:txBody>
      </p:sp>
      <p:sp>
        <p:nvSpPr>
          <p:cNvPr id="3" name="operating-subtitle">
            <a:extLst xmlns:a="http://schemas.openxmlformats.org/drawingml/2006/main">
              <a:ext uri="{FF2B5EF4-FFF2-40B4-BE49-F238E27FC236}">
                <a16:creationId xmlns:a16="http://schemas.microsoft.com/office/drawing/2014/main" id="{488E4595-790E-4F48-A9FE-A8FBA9DA02AC}"/>
              </a:ext>
            </a:extLst>
          </p:cNvPr>
          <p:cNvSpPr>
            <a:spLocks xmlns:a="http://schemas.openxmlformats.org/drawingml/2006/main" noGrp="1"/>
          </p:cNvSpPr>
          <p:nvPr/>
        </p:nvSpPr>
        <p:spPr>
          <a:xfrm xmlns:a="http://schemas.openxmlformats.org/drawingml/2006/main">
            <a:off x="609600" y="16764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B1B7AF"/>
                </a:solidFill>
              </a:defRPr>
            </a:pPr>
            <a:r>
              <a:rPr sz="1500" b="0">
                <a:solidFill>
                  <a:srgbClr val="B1B7AF"/>
                </a:solidFill>
              </a:rPr>
              <a:t>Frontier judgment at the top. Economical execution underneath. Independent review where risk warrants it.</a:t>
            </a:r>
          </a:p>
        </p:txBody>
      </p:sp>
      <p:sp>
        <p:nvSpPr>
          <p:cNvPr id="4" name="lead-box">
            <a:extLst xmlns:a="http://schemas.openxmlformats.org/drawingml/2006/main">
              <a:ext uri="{FF2B5EF4-FFF2-40B4-BE49-F238E27FC236}">
                <a16:creationId xmlns:a16="http://schemas.microsoft.com/office/drawing/2014/main" id="{1004D4A1-7275-4CFF-A9B2-A6C4D3A941F7}"/>
              </a:ext>
            </a:extLst>
          </p:cNvPr>
          <p:cNvSpPr>
            <a:spLocks xmlns:a="http://schemas.openxmlformats.org/drawingml/2006/main" noGrp="1"/>
          </p:cNvSpPr>
          <p:nvPr/>
        </p:nvSpPr>
        <p:spPr>
          <a:xfrm xmlns:a="http://schemas.openxmlformats.org/drawingml/2006/main">
            <a:off x="4191000" y="2400300"/>
            <a:ext cx="3810000" cy="781050"/>
          </a:xfrm>
          <a:prstGeom xmlns:a="http://schemas.openxmlformats.org/drawingml/2006/main" prst="roundRect">
            <a:avLst>
              <a:gd name="adj" fmla="val 14634"/>
            </a:avLst>
          </a:prstGeom>
          <a:solidFill xmlns:a="http://schemas.openxmlformats.org/drawingml/2006/main">
            <a:srgbClr val="FBFAF5"/>
          </a:solidFill>
          <a:ln xmlns:a="http://schemas.openxmlformats.org/drawingml/2006/main" w="0">
            <a:noFill/>
            <a:prstDash val="solid"/>
          </a:ln>
        </p:spPr>
      </p:sp>
      <p:sp>
        <p:nvSpPr>
          <p:cNvPr id="5" name="lead-label">
            <a:extLst xmlns:a="http://schemas.openxmlformats.org/drawingml/2006/main">
              <a:ext uri="{FF2B5EF4-FFF2-40B4-BE49-F238E27FC236}">
                <a16:creationId xmlns:a16="http://schemas.microsoft.com/office/drawing/2014/main" id="{EF81BB42-4D11-4A60-B174-8C8487F10729}"/>
              </a:ext>
            </a:extLst>
          </p:cNvPr>
          <p:cNvSpPr>
            <a:spLocks xmlns:a="http://schemas.openxmlformats.org/drawingml/2006/main" noGrp="1"/>
          </p:cNvSpPr>
          <p:nvPr/>
        </p:nvSpPr>
        <p:spPr>
          <a:xfrm xmlns:a="http://schemas.openxmlformats.org/drawingml/2006/main">
            <a:off x="4438650" y="25908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315CFF"/>
                </a:solidFill>
              </a:defRPr>
            </a:pPr>
            <a:r>
              <a:rPr sz="825" b="1">
                <a:solidFill>
                  <a:srgbClr val="315CFF"/>
                </a:solidFill>
              </a:rPr>
              <a:t>01 / PLAN</a:t>
            </a:r>
          </a:p>
        </p:txBody>
      </p:sp>
      <p:sp>
        <p:nvSpPr>
          <p:cNvPr id="6" name="lead-name">
            <a:extLst xmlns:a="http://schemas.openxmlformats.org/drawingml/2006/main">
              <a:ext uri="{FF2B5EF4-FFF2-40B4-BE49-F238E27FC236}">
                <a16:creationId xmlns:a16="http://schemas.microsoft.com/office/drawing/2014/main" id="{F9653B6D-C9F9-4FD1-8F48-22D6DCF29F3F}"/>
              </a:ext>
            </a:extLst>
          </p:cNvPr>
          <p:cNvSpPr>
            <a:spLocks xmlns:a="http://schemas.openxmlformats.org/drawingml/2006/main" noGrp="1"/>
          </p:cNvSpPr>
          <p:nvPr/>
        </p:nvSpPr>
        <p:spPr>
          <a:xfrm xmlns:a="http://schemas.openxmlformats.org/drawingml/2006/main">
            <a:off x="4438650" y="28098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411"/>
                </a:solidFill>
              </a:defRPr>
            </a:pPr>
            <a:r>
              <a:rPr sz="1800" b="1">
                <a:solidFill>
                  <a:srgbClr val="111411"/>
                </a:solidFill>
              </a:rPr>
              <a:t>Codex + Sol</a:t>
            </a:r>
          </a:p>
        </p:txBody>
      </p:sp>
      <p:sp>
        <p:nvSpPr>
          <p:cNvPr id="7" name="lead-arrow">
            <a:extLst xmlns:a="http://schemas.openxmlformats.org/drawingml/2006/main">
              <a:ext uri="{FF2B5EF4-FFF2-40B4-BE49-F238E27FC236}">
                <a16:creationId xmlns:a16="http://schemas.microsoft.com/office/drawing/2014/main" id="{E9B76C24-88C0-4859-B6CE-8AACA19EA528}"/>
              </a:ext>
            </a:extLst>
          </p:cNvPr>
          <p:cNvSpPr>
            <a:spLocks xmlns:a="http://schemas.openxmlformats.org/drawingml/2006/main" noGrp="1"/>
          </p:cNvSpPr>
          <p:nvPr/>
        </p:nvSpPr>
        <p:spPr>
          <a:xfrm xmlns:a="http://schemas.openxmlformats.org/drawingml/2006/main">
            <a:off x="5734050" y="3295650"/>
            <a:ext cx="723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C8FF3D"/>
                </a:solidFill>
              </a:defRPr>
            </a:pPr>
            <a:r>
              <a:rPr sz="2250" b="1">
                <a:solidFill>
                  <a:srgbClr val="C8FF3D"/>
                </a:solidFill>
              </a:rPr>
              <a:t>↓</a:t>
            </a:r>
          </a:p>
        </p:txBody>
      </p:sp>
      <p:sp>
        <p:nvSpPr>
          <p:cNvPr id="8" name="worker-box-0">
            <a:extLst xmlns:a="http://schemas.openxmlformats.org/drawingml/2006/main">
              <a:ext uri="{FF2B5EF4-FFF2-40B4-BE49-F238E27FC236}">
                <a16:creationId xmlns:a16="http://schemas.microsoft.com/office/drawing/2014/main" id="{615B0090-BB40-44B0-A3BE-4AE6D90E6E35}"/>
              </a:ext>
            </a:extLst>
          </p:cNvPr>
          <p:cNvSpPr>
            <a:spLocks xmlns:a="http://schemas.openxmlformats.org/drawingml/2006/main" noGrp="1"/>
          </p:cNvSpPr>
          <p:nvPr/>
        </p:nvSpPr>
        <p:spPr>
          <a:xfrm xmlns:a="http://schemas.openxmlformats.org/drawingml/2006/main">
            <a:off x="2000250" y="3790950"/>
            <a:ext cx="2476500" cy="1123950"/>
          </a:xfrm>
          <a:prstGeom xmlns:a="http://schemas.openxmlformats.org/drawingml/2006/main" prst="roundRect">
            <a:avLst>
              <a:gd name="adj" fmla="val 10169"/>
            </a:avLst>
          </a:prstGeom>
          <a:solidFill xmlns:a="http://schemas.openxmlformats.org/drawingml/2006/main">
            <a:srgbClr val="EFFFCA"/>
          </a:solidFill>
          <a:ln xmlns:a="http://schemas.openxmlformats.org/drawingml/2006/main" w="0">
            <a:noFill/>
            <a:prstDash val="solid"/>
          </a:ln>
        </p:spPr>
      </p:sp>
      <p:sp>
        <p:nvSpPr>
          <p:cNvPr id="9" name="worker-step-0">
            <a:extLst xmlns:a="http://schemas.openxmlformats.org/drawingml/2006/main">
              <a:ext uri="{FF2B5EF4-FFF2-40B4-BE49-F238E27FC236}">
                <a16:creationId xmlns:a16="http://schemas.microsoft.com/office/drawing/2014/main" id="{46ABCD10-3F3A-4CCA-90A7-7A97AEE19E5B}"/>
              </a:ext>
            </a:extLst>
          </p:cNvPr>
          <p:cNvSpPr>
            <a:spLocks xmlns:a="http://schemas.openxmlformats.org/drawingml/2006/main" noGrp="1"/>
          </p:cNvSpPr>
          <p:nvPr/>
        </p:nvSpPr>
        <p:spPr>
          <a:xfrm xmlns:a="http://schemas.openxmlformats.org/drawingml/2006/main">
            <a:off x="2190750" y="39719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315CFF"/>
                </a:solidFill>
              </a:defRPr>
            </a:pPr>
            <a:r>
              <a:rPr sz="750" b="1">
                <a:solidFill>
                  <a:srgbClr val="315CFF"/>
                </a:solidFill>
              </a:rPr>
              <a:t>02A / BUILD</a:t>
            </a:r>
          </a:p>
        </p:txBody>
      </p:sp>
      <p:sp>
        <p:nvSpPr>
          <p:cNvPr id="10" name="worker-name-0">
            <a:extLst xmlns:a="http://schemas.openxmlformats.org/drawingml/2006/main">
              <a:ext uri="{FF2B5EF4-FFF2-40B4-BE49-F238E27FC236}">
                <a16:creationId xmlns:a16="http://schemas.microsoft.com/office/drawing/2014/main" id="{4BA1ED9B-AB52-4072-9910-8C848FF9C46C}"/>
              </a:ext>
            </a:extLst>
          </p:cNvPr>
          <p:cNvSpPr>
            <a:spLocks xmlns:a="http://schemas.openxmlformats.org/drawingml/2006/main" noGrp="1"/>
          </p:cNvSpPr>
          <p:nvPr/>
        </p:nvSpPr>
        <p:spPr>
          <a:xfrm xmlns:a="http://schemas.openxmlformats.org/drawingml/2006/main">
            <a:off x="2190750" y="42481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411"/>
                </a:solidFill>
              </a:defRPr>
            </a:pPr>
            <a:r>
              <a:rPr sz="1500" b="1">
                <a:solidFill>
                  <a:srgbClr val="111411"/>
                </a:solidFill>
              </a:rPr>
              <a:t>QWEN</a:t>
            </a:r>
          </a:p>
        </p:txBody>
      </p:sp>
      <p:sp>
        <p:nvSpPr>
          <p:cNvPr id="11" name="worker-role-0">
            <a:extLst xmlns:a="http://schemas.openxmlformats.org/drawingml/2006/main">
              <a:ext uri="{FF2B5EF4-FFF2-40B4-BE49-F238E27FC236}">
                <a16:creationId xmlns:a16="http://schemas.microsoft.com/office/drawing/2014/main" id="{6DF4B578-9A6B-4A08-BD9C-F793D457DAB3}"/>
              </a:ext>
            </a:extLst>
          </p:cNvPr>
          <p:cNvSpPr>
            <a:spLocks xmlns:a="http://schemas.openxmlformats.org/drawingml/2006/main" noGrp="1"/>
          </p:cNvSpPr>
          <p:nvPr/>
        </p:nvSpPr>
        <p:spPr>
          <a:xfrm xmlns:a="http://schemas.openxmlformats.org/drawingml/2006/main">
            <a:off x="2190750" y="45339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86C65"/>
                </a:solidFill>
              </a:defRPr>
            </a:pPr>
            <a:r>
              <a:rPr sz="1050" b="0">
                <a:solidFill>
                  <a:srgbClr val="686C65"/>
                </a:solidFill>
              </a:rPr>
              <a:t>Bounded build</a:t>
            </a:r>
          </a:p>
        </p:txBody>
      </p:sp>
      <p:sp>
        <p:nvSpPr>
          <p:cNvPr id="12" name="worker-box-1">
            <a:extLst xmlns:a="http://schemas.openxmlformats.org/drawingml/2006/main">
              <a:ext uri="{FF2B5EF4-FFF2-40B4-BE49-F238E27FC236}">
                <a16:creationId xmlns:a16="http://schemas.microsoft.com/office/drawing/2014/main" id="{B2B625EE-0CBA-41F5-A0A8-7720B8DBC631}"/>
              </a:ext>
            </a:extLst>
          </p:cNvPr>
          <p:cNvSpPr>
            <a:spLocks xmlns:a="http://schemas.openxmlformats.org/drawingml/2006/main" noGrp="1"/>
          </p:cNvSpPr>
          <p:nvPr/>
        </p:nvSpPr>
        <p:spPr>
          <a:xfrm xmlns:a="http://schemas.openxmlformats.org/drawingml/2006/main">
            <a:off x="4857750" y="3790950"/>
            <a:ext cx="2476500" cy="1123950"/>
          </a:xfrm>
          <a:prstGeom xmlns:a="http://schemas.openxmlformats.org/drawingml/2006/main" prst="roundRect">
            <a:avLst>
              <a:gd name="adj" fmla="val 10169"/>
            </a:avLst>
          </a:prstGeom>
          <a:solidFill xmlns:a="http://schemas.openxmlformats.org/drawingml/2006/main">
            <a:srgbClr val="E7ECFF"/>
          </a:solidFill>
          <a:ln xmlns:a="http://schemas.openxmlformats.org/drawingml/2006/main" w="0">
            <a:noFill/>
            <a:prstDash val="solid"/>
          </a:ln>
        </p:spPr>
      </p:sp>
      <p:sp>
        <p:nvSpPr>
          <p:cNvPr id="13" name="worker-step-1">
            <a:extLst xmlns:a="http://schemas.openxmlformats.org/drawingml/2006/main">
              <a:ext uri="{FF2B5EF4-FFF2-40B4-BE49-F238E27FC236}">
                <a16:creationId xmlns:a16="http://schemas.microsoft.com/office/drawing/2014/main" id="{7A287814-52B4-46BE-8C29-2CB8034ED526}"/>
              </a:ext>
            </a:extLst>
          </p:cNvPr>
          <p:cNvSpPr>
            <a:spLocks xmlns:a="http://schemas.openxmlformats.org/drawingml/2006/main" noGrp="1"/>
          </p:cNvSpPr>
          <p:nvPr/>
        </p:nvSpPr>
        <p:spPr>
          <a:xfrm xmlns:a="http://schemas.openxmlformats.org/drawingml/2006/main">
            <a:off x="5048250" y="39719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315CFF"/>
                </a:solidFill>
              </a:defRPr>
            </a:pPr>
            <a:r>
              <a:rPr sz="750" b="1">
                <a:solidFill>
                  <a:srgbClr val="315CFF"/>
                </a:solidFill>
              </a:rPr>
              <a:t>02B / BUILD</a:t>
            </a:r>
          </a:p>
        </p:txBody>
      </p:sp>
      <p:sp>
        <p:nvSpPr>
          <p:cNvPr id="14" name="worker-name-1">
            <a:extLst xmlns:a="http://schemas.openxmlformats.org/drawingml/2006/main">
              <a:ext uri="{FF2B5EF4-FFF2-40B4-BE49-F238E27FC236}">
                <a16:creationId xmlns:a16="http://schemas.microsoft.com/office/drawing/2014/main" id="{B4C1E9A9-8C50-4014-96B9-AA3F69647D86}"/>
              </a:ext>
            </a:extLst>
          </p:cNvPr>
          <p:cNvSpPr>
            <a:spLocks xmlns:a="http://schemas.openxmlformats.org/drawingml/2006/main" noGrp="1"/>
          </p:cNvSpPr>
          <p:nvPr/>
        </p:nvSpPr>
        <p:spPr>
          <a:xfrm xmlns:a="http://schemas.openxmlformats.org/drawingml/2006/main">
            <a:off x="5048250" y="42481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411"/>
                </a:solidFill>
              </a:defRPr>
            </a:pPr>
            <a:r>
              <a:rPr sz="1500" b="1">
                <a:solidFill>
                  <a:srgbClr val="111411"/>
                </a:solidFill>
              </a:rPr>
              <a:t>GLM</a:t>
            </a:r>
          </a:p>
        </p:txBody>
      </p:sp>
      <p:sp>
        <p:nvSpPr>
          <p:cNvPr id="15" name="worker-role-1">
            <a:extLst xmlns:a="http://schemas.openxmlformats.org/drawingml/2006/main">
              <a:ext uri="{FF2B5EF4-FFF2-40B4-BE49-F238E27FC236}">
                <a16:creationId xmlns:a16="http://schemas.microsoft.com/office/drawing/2014/main" id="{DAB933E2-064F-475D-BE84-64B5389E1E91}"/>
              </a:ext>
            </a:extLst>
          </p:cNvPr>
          <p:cNvSpPr>
            <a:spLocks xmlns:a="http://schemas.openxmlformats.org/drawingml/2006/main" noGrp="1"/>
          </p:cNvSpPr>
          <p:nvPr/>
        </p:nvSpPr>
        <p:spPr>
          <a:xfrm xmlns:a="http://schemas.openxmlformats.org/drawingml/2006/main">
            <a:off x="5048250" y="45339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86C65"/>
                </a:solidFill>
              </a:defRPr>
            </a:pPr>
            <a:r>
              <a:rPr sz="1050" b="0">
                <a:solidFill>
                  <a:srgbClr val="686C65"/>
                </a:solidFill>
              </a:rPr>
              <a:t>Hard async work</a:t>
            </a:r>
          </a:p>
        </p:txBody>
      </p:sp>
      <p:sp>
        <p:nvSpPr>
          <p:cNvPr id="16" name="worker-box-2">
            <a:extLst xmlns:a="http://schemas.openxmlformats.org/drawingml/2006/main">
              <a:ext uri="{FF2B5EF4-FFF2-40B4-BE49-F238E27FC236}">
                <a16:creationId xmlns:a16="http://schemas.microsoft.com/office/drawing/2014/main" id="{09DAAA72-2188-4043-BAAA-C98743268A28}"/>
              </a:ext>
            </a:extLst>
          </p:cNvPr>
          <p:cNvSpPr>
            <a:spLocks xmlns:a="http://schemas.openxmlformats.org/drawingml/2006/main" noGrp="1"/>
          </p:cNvSpPr>
          <p:nvPr/>
        </p:nvSpPr>
        <p:spPr>
          <a:xfrm xmlns:a="http://schemas.openxmlformats.org/drawingml/2006/main">
            <a:off x="7715250" y="3790950"/>
            <a:ext cx="2476500" cy="1123950"/>
          </a:xfrm>
          <a:prstGeom xmlns:a="http://schemas.openxmlformats.org/drawingml/2006/main" prst="roundRect">
            <a:avLst>
              <a:gd name="adj" fmla="val 10169"/>
            </a:avLst>
          </a:prstGeom>
          <a:solidFill xmlns:a="http://schemas.openxmlformats.org/drawingml/2006/main">
            <a:srgbClr val="FFE0DA"/>
          </a:solidFill>
          <a:ln xmlns:a="http://schemas.openxmlformats.org/drawingml/2006/main" w="0">
            <a:noFill/>
            <a:prstDash val="solid"/>
          </a:ln>
        </p:spPr>
      </p:sp>
      <p:sp>
        <p:nvSpPr>
          <p:cNvPr id="17" name="worker-step-2">
            <a:extLst xmlns:a="http://schemas.openxmlformats.org/drawingml/2006/main">
              <a:ext uri="{FF2B5EF4-FFF2-40B4-BE49-F238E27FC236}">
                <a16:creationId xmlns:a16="http://schemas.microsoft.com/office/drawing/2014/main" id="{CFD69210-8E31-4261-8E82-D40DE54EAB88}"/>
              </a:ext>
            </a:extLst>
          </p:cNvPr>
          <p:cNvSpPr>
            <a:spLocks xmlns:a="http://schemas.openxmlformats.org/drawingml/2006/main" noGrp="1"/>
          </p:cNvSpPr>
          <p:nvPr/>
        </p:nvSpPr>
        <p:spPr>
          <a:xfrm xmlns:a="http://schemas.openxmlformats.org/drawingml/2006/main">
            <a:off x="7905750" y="39719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FF5D47"/>
                </a:solidFill>
              </a:defRPr>
            </a:pPr>
            <a:r>
              <a:rPr sz="750" b="1">
                <a:solidFill>
                  <a:srgbClr val="FF5D47"/>
                </a:solidFill>
              </a:rPr>
              <a:t>02C / CHALLENGE</a:t>
            </a:r>
          </a:p>
        </p:txBody>
      </p:sp>
      <p:sp>
        <p:nvSpPr>
          <p:cNvPr id="18" name="worker-name-2">
            <a:extLst xmlns:a="http://schemas.openxmlformats.org/drawingml/2006/main">
              <a:ext uri="{FF2B5EF4-FFF2-40B4-BE49-F238E27FC236}">
                <a16:creationId xmlns:a16="http://schemas.microsoft.com/office/drawing/2014/main" id="{8C9615D5-311E-4120-B1EE-9B5BB61E2C41}"/>
              </a:ext>
            </a:extLst>
          </p:cNvPr>
          <p:cNvSpPr>
            <a:spLocks xmlns:a="http://schemas.openxmlformats.org/drawingml/2006/main" noGrp="1"/>
          </p:cNvSpPr>
          <p:nvPr/>
        </p:nvSpPr>
        <p:spPr>
          <a:xfrm xmlns:a="http://schemas.openxmlformats.org/drawingml/2006/main">
            <a:off x="7905750" y="42481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411"/>
                </a:solidFill>
              </a:defRPr>
            </a:pPr>
            <a:r>
              <a:rPr sz="1500" b="1">
                <a:solidFill>
                  <a:srgbClr val="111411"/>
                </a:solidFill>
              </a:rPr>
              <a:t>CLAUDE</a:t>
            </a:r>
          </a:p>
        </p:txBody>
      </p:sp>
      <p:sp>
        <p:nvSpPr>
          <p:cNvPr id="19" name="worker-role-2">
            <a:extLst xmlns:a="http://schemas.openxmlformats.org/drawingml/2006/main">
              <a:ext uri="{FF2B5EF4-FFF2-40B4-BE49-F238E27FC236}">
                <a16:creationId xmlns:a16="http://schemas.microsoft.com/office/drawing/2014/main" id="{6939F9C9-3088-4C5E-BA4C-8E72299AC8F3}"/>
              </a:ext>
            </a:extLst>
          </p:cNvPr>
          <p:cNvSpPr>
            <a:spLocks xmlns:a="http://schemas.openxmlformats.org/drawingml/2006/main" noGrp="1"/>
          </p:cNvSpPr>
          <p:nvPr/>
        </p:nvSpPr>
        <p:spPr>
          <a:xfrm xmlns:a="http://schemas.openxmlformats.org/drawingml/2006/main">
            <a:off x="7905750" y="45339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86C65"/>
                </a:solidFill>
              </a:defRPr>
            </a:pPr>
            <a:r>
              <a:rPr sz="1050" b="0">
                <a:solidFill>
                  <a:srgbClr val="686C65"/>
                </a:solidFill>
              </a:rPr>
              <a:t>Independent review</a:t>
            </a:r>
          </a:p>
        </p:txBody>
      </p:sp>
      <p:sp>
        <p:nvSpPr>
          <p:cNvPr id="20" name="merge-arrow">
            <a:extLst xmlns:a="http://schemas.openxmlformats.org/drawingml/2006/main">
              <a:ext uri="{FF2B5EF4-FFF2-40B4-BE49-F238E27FC236}">
                <a16:creationId xmlns:a16="http://schemas.microsoft.com/office/drawing/2014/main" id="{A2598EDF-E350-417B-A2A8-EE94F6563B4B}"/>
              </a:ext>
            </a:extLst>
          </p:cNvPr>
          <p:cNvSpPr>
            <a:spLocks xmlns:a="http://schemas.openxmlformats.org/drawingml/2006/main" noGrp="1"/>
          </p:cNvSpPr>
          <p:nvPr/>
        </p:nvSpPr>
        <p:spPr>
          <a:xfrm xmlns:a="http://schemas.openxmlformats.org/drawingml/2006/main">
            <a:off x="5734050" y="49530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C8FF3D"/>
                </a:solidFill>
              </a:defRPr>
            </a:pPr>
            <a:r>
              <a:rPr sz="2100" b="1">
                <a:solidFill>
                  <a:srgbClr val="C8FF3D"/>
                </a:solidFill>
              </a:rPr>
              <a:t>↓</a:t>
            </a:r>
          </a:p>
        </p:txBody>
      </p:sp>
      <p:sp>
        <p:nvSpPr>
          <p:cNvPr id="21" name="final-gate">
            <a:extLst xmlns:a="http://schemas.openxmlformats.org/drawingml/2006/main">
              <a:ext uri="{FF2B5EF4-FFF2-40B4-BE49-F238E27FC236}">
                <a16:creationId xmlns:a16="http://schemas.microsoft.com/office/drawing/2014/main" id="{44BDECE2-3B5A-49C3-BC6B-D4BF787D4699}"/>
              </a:ext>
            </a:extLst>
          </p:cNvPr>
          <p:cNvSpPr>
            <a:spLocks xmlns:a="http://schemas.openxmlformats.org/drawingml/2006/main" noGrp="1"/>
          </p:cNvSpPr>
          <p:nvPr/>
        </p:nvSpPr>
        <p:spPr>
          <a:xfrm xmlns:a="http://schemas.openxmlformats.org/drawingml/2006/main">
            <a:off x="4191000" y="5314950"/>
            <a:ext cx="3810000" cy="666750"/>
          </a:xfrm>
          <a:prstGeom xmlns:a="http://schemas.openxmlformats.org/drawingml/2006/main" prst="roundRect">
            <a:avLst>
              <a:gd name="adj" fmla="val 17143"/>
            </a:avLst>
          </a:prstGeom>
          <a:solidFill xmlns:a="http://schemas.openxmlformats.org/drawingml/2006/main">
            <a:srgbClr val="315CFF"/>
          </a:solidFill>
          <a:ln xmlns:a="http://schemas.openxmlformats.org/drawingml/2006/main" w="0">
            <a:noFill/>
            <a:prstDash val="solid"/>
          </a:ln>
        </p:spPr>
      </p:sp>
      <p:sp>
        <p:nvSpPr>
          <p:cNvPr id="22" name="final-label">
            <a:extLst xmlns:a="http://schemas.openxmlformats.org/drawingml/2006/main">
              <a:ext uri="{FF2B5EF4-FFF2-40B4-BE49-F238E27FC236}">
                <a16:creationId xmlns:a16="http://schemas.microsoft.com/office/drawing/2014/main" id="{BB513075-8D81-4634-849D-C3386537022B}"/>
              </a:ext>
            </a:extLst>
          </p:cNvPr>
          <p:cNvSpPr>
            <a:spLocks xmlns:a="http://schemas.openxmlformats.org/drawingml/2006/main" noGrp="1"/>
          </p:cNvSpPr>
          <p:nvPr/>
        </p:nvSpPr>
        <p:spPr>
          <a:xfrm xmlns:a="http://schemas.openxmlformats.org/drawingml/2006/main">
            <a:off x="4438650" y="54673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C8FF3D"/>
                </a:solidFill>
              </a:defRPr>
            </a:pPr>
            <a:r>
              <a:rPr sz="750" b="1">
                <a:solidFill>
                  <a:srgbClr val="C8FF3D"/>
                </a:solidFill>
              </a:rPr>
              <a:t>03 / INTEGRATE</a:t>
            </a:r>
          </a:p>
        </p:txBody>
      </p:sp>
      <p:sp>
        <p:nvSpPr>
          <p:cNvPr id="23" name="final-name">
            <a:extLst xmlns:a="http://schemas.openxmlformats.org/drawingml/2006/main">
              <a:ext uri="{FF2B5EF4-FFF2-40B4-BE49-F238E27FC236}">
                <a16:creationId xmlns:a16="http://schemas.microsoft.com/office/drawing/2014/main" id="{24133C83-14D6-4A2E-A93F-FB29BC3CD7CE}"/>
              </a:ext>
            </a:extLst>
          </p:cNvPr>
          <p:cNvSpPr>
            <a:spLocks xmlns:a="http://schemas.openxmlformats.org/drawingml/2006/main" noGrp="1"/>
          </p:cNvSpPr>
          <p:nvPr/>
        </p:nvSpPr>
        <p:spPr>
          <a:xfrm xmlns:a="http://schemas.openxmlformats.org/drawingml/2006/main">
            <a:off x="4438650" y="56769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BFAF5"/>
                </a:solidFill>
              </a:defRPr>
            </a:pPr>
            <a:r>
              <a:rPr sz="1650" b="1">
                <a:solidFill>
                  <a:srgbClr val="FBFAF5"/>
                </a:solidFill>
              </a:rPr>
              <a:t>Codex final gate</a:t>
            </a:r>
          </a:p>
        </p:txBody>
      </p:sp>
      <p:sp>
        <p:nvSpPr>
          <p:cNvPr id="24" name="closing-line">
            <a:extLst xmlns:a="http://schemas.openxmlformats.org/drawingml/2006/main">
              <a:ext uri="{FF2B5EF4-FFF2-40B4-BE49-F238E27FC236}">
                <a16:creationId xmlns:a16="http://schemas.microsoft.com/office/drawing/2014/main" id="{945E7EAE-7B0E-4358-9DB6-DD8D73C4ADA6}"/>
              </a:ext>
            </a:extLst>
          </p:cNvPr>
          <p:cNvSpPr>
            <a:spLocks xmlns:a="http://schemas.openxmlformats.org/drawingml/2006/main" noGrp="1"/>
          </p:cNvSpPr>
          <p:nvPr/>
        </p:nvSpPr>
        <p:spPr>
          <a:xfrm xmlns:a="http://schemas.openxmlformats.org/drawingml/2006/main">
            <a:off x="609600" y="617220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C8FF3D"/>
                </a:solidFill>
              </a:defRPr>
            </a:pPr>
            <a:r>
              <a:rPr sz="1125" b="1">
                <a:solidFill>
                  <a:srgbClr val="C8FF3D"/>
                </a:solidFill>
              </a:rPr>
              <a:t>PLAN HIGH  ·  EXECUTE LOW  ·  VERIFY EVERYTHING</a:t>
            </a:r>
          </a:p>
        </p:txBody>
      </p:sp>
      <p:sp>
        <p:nvSpPr>
          <p:cNvPr id="25" name="footer-line-10">
            <a:extLst xmlns:a="http://schemas.openxmlformats.org/drawingml/2006/main">
              <a:ext uri="{FF2B5EF4-FFF2-40B4-BE49-F238E27FC236}">
                <a16:creationId xmlns:a16="http://schemas.microsoft.com/office/drawing/2014/main" id="{822D9648-B9FE-4715-B7FC-23FD17FD785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B403B"/>
          </a:solidFill>
          <a:ln xmlns:a="http://schemas.openxmlformats.org/drawingml/2006/main" w="0">
            <a:noFill/>
            <a:prstDash val="solid"/>
          </a:ln>
        </p:spPr>
      </p:sp>
      <p:sp>
        <p:nvSpPr>
          <p:cNvPr id="26" name="footer-brand-10">
            <a:extLst xmlns:a="http://schemas.openxmlformats.org/drawingml/2006/main">
              <a:ext uri="{FF2B5EF4-FFF2-40B4-BE49-F238E27FC236}">
                <a16:creationId xmlns:a16="http://schemas.microsoft.com/office/drawing/2014/main" id="{28470A06-29D2-4E2F-9C24-EA1B5E7FF629}"/>
              </a:ext>
            </a:extLst>
          </p:cNvPr>
          <p:cNvSpPr>
            <a:spLocks xmlns:a="http://schemas.openxmlformats.org/drawingml/2006/main" noGrp="1"/>
          </p:cNvSpPr>
          <p:nvPr/>
        </p:nvSpPr>
        <p:spPr>
          <a:xfrm xmlns:a="http://schemas.openxmlformats.org/drawingml/2006/main">
            <a:off x="609600" y="65532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92988F"/>
                </a:solidFill>
              </a:defRPr>
            </a:pPr>
            <a:r>
              <a:rPr sz="750" b="1">
                <a:solidFill>
                  <a:srgbClr val="92988F"/>
                </a:solidFill>
              </a:rPr>
              <a:t>CODING INTELLIGENCE FIELD STUDY</a:t>
            </a:r>
          </a:p>
        </p:txBody>
      </p:sp>
      <p:sp>
        <p:nvSpPr>
          <p:cNvPr id="27" name="footer-number-10">
            <a:extLst xmlns:a="http://schemas.openxmlformats.org/drawingml/2006/main">
              <a:ext uri="{FF2B5EF4-FFF2-40B4-BE49-F238E27FC236}">
                <a16:creationId xmlns:a16="http://schemas.microsoft.com/office/drawing/2014/main" id="{9B60B4AD-D66C-4DE0-A2CD-F314B188BBF8}"/>
              </a:ext>
            </a:extLst>
          </p:cNvPr>
          <p:cNvSpPr>
            <a:spLocks xmlns:a="http://schemas.openxmlformats.org/drawingml/2006/main" noGrp="1"/>
          </p:cNvSpPr>
          <p:nvPr/>
        </p:nvSpPr>
        <p:spPr>
          <a:xfrm xmlns:a="http://schemas.openxmlformats.org/drawingml/2006/main">
            <a:off x="11125200" y="65532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FBFAF5"/>
                </a:solidFill>
              </a:defRPr>
            </a:pPr>
            <a:r>
              <a:rPr sz="750" b="1">
                <a:solidFill>
                  <a:srgbClr val="FBFAF5"/>
                </a:solidFill>
              </a:rPr>
              <a:t>10</a:t>
            </a:r>
          </a:p>
        </p:txBody>
      </p:sp>
    </p:spTree>
    <p:extLst>
      <p:ext uri="{BB962C8B-B14F-4D97-AF65-F5344CB8AC3E}">
        <p14:creationId xmlns:p14="http://schemas.microsoft.com/office/powerpoint/2010/main" val="2857386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2026-08-24T14:47:45.8200000Z</dcterms:created>
  <dcterms:modified xsi:type="dcterms:W3CDTF">2026-08-24T14:47:45.8200000Z</dcterms:modified>
</coreProperties>
</file>